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76"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5" r:id="rId17"/>
    <p:sldId id="272" r:id="rId18"/>
    <p:sldId id="273" r:id="rId19"/>
    <p:sldId id="274" r:id="rId20"/>
    <p:sldId id="277" r:id="rId21"/>
    <p:sldId id="278" r:id="rId22"/>
    <p:sldId id="279" r:id="rId2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8" d="100"/>
          <a:sy n="68" d="100"/>
        </p:scale>
        <p:origin x="616"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C565C7-853E-4631-A579-A8C468408D5B}" type="datetimeFigureOut">
              <a:rPr lang="fr-FR" smtClean="0"/>
              <a:t>07/04/2026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BF06F9-33C2-4F89-9AF9-77F63E3D2704}" type="slidenum">
              <a:rPr lang="fr-FR" smtClean="0"/>
              <a:t>‹N°›</a:t>
            </a:fld>
            <a:endParaRPr lang="fr-FR"/>
          </a:p>
        </p:txBody>
      </p:sp>
    </p:spTree>
    <p:extLst>
      <p:ext uri="{BB962C8B-B14F-4D97-AF65-F5344CB8AC3E}">
        <p14:creationId xmlns:p14="http://schemas.microsoft.com/office/powerpoint/2010/main" val="4706214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AC18BE4-C589-0033-20AF-036615A42726}"/>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FA564BB5-51F6-1E45-ABA1-0CB0003B25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9AEAD131-53F5-A551-3557-69FBF88EDB4D}"/>
              </a:ext>
            </a:extLst>
          </p:cNvPr>
          <p:cNvSpPr>
            <a:spLocks noGrp="1"/>
          </p:cNvSpPr>
          <p:nvPr>
            <p:ph type="dt" sz="half" idx="10"/>
          </p:nvPr>
        </p:nvSpPr>
        <p:spPr/>
        <p:txBody>
          <a:bodyPr/>
          <a:lstStyle/>
          <a:p>
            <a:fld id="{8FB7BDB4-03F5-4C92-955B-10EBD2B5CB38}" type="datetimeFigureOut">
              <a:rPr lang="fr-FR" smtClean="0"/>
              <a:t>05/04/2026</a:t>
            </a:fld>
            <a:endParaRPr lang="fr-FR"/>
          </a:p>
        </p:txBody>
      </p:sp>
      <p:sp>
        <p:nvSpPr>
          <p:cNvPr id="5" name="Espace réservé du pied de page 4">
            <a:extLst>
              <a:ext uri="{FF2B5EF4-FFF2-40B4-BE49-F238E27FC236}">
                <a16:creationId xmlns:a16="http://schemas.microsoft.com/office/drawing/2014/main" id="{1FE0C9F4-2C5F-65D1-C0F3-B492BC1E440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A921E05-E923-34B4-736C-5238EDA727BD}"/>
              </a:ext>
            </a:extLst>
          </p:cNvPr>
          <p:cNvSpPr>
            <a:spLocks noGrp="1"/>
          </p:cNvSpPr>
          <p:nvPr>
            <p:ph type="sldNum" sz="quarter" idx="12"/>
          </p:nvPr>
        </p:nvSpPr>
        <p:spPr/>
        <p:txBody>
          <a:bodyPr/>
          <a:lstStyle/>
          <a:p>
            <a:fld id="{EAE13F4C-B0DC-4344-8400-4464E7583480}" type="slidenum">
              <a:rPr lang="fr-FR" smtClean="0"/>
              <a:t>‹N°›</a:t>
            </a:fld>
            <a:endParaRPr lang="fr-FR"/>
          </a:p>
        </p:txBody>
      </p:sp>
    </p:spTree>
    <p:extLst>
      <p:ext uri="{BB962C8B-B14F-4D97-AF65-F5344CB8AC3E}">
        <p14:creationId xmlns:p14="http://schemas.microsoft.com/office/powerpoint/2010/main" val="35310118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E194DF-55B8-9C2C-DBD5-7083D1FBA558}"/>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E80B463B-BE07-441A-7730-F7BEE29E92B2}"/>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E5BFD6B-0224-C6D6-CEAC-01F2EB367FE1}"/>
              </a:ext>
            </a:extLst>
          </p:cNvPr>
          <p:cNvSpPr>
            <a:spLocks noGrp="1"/>
          </p:cNvSpPr>
          <p:nvPr>
            <p:ph type="dt" sz="half" idx="10"/>
          </p:nvPr>
        </p:nvSpPr>
        <p:spPr/>
        <p:txBody>
          <a:bodyPr/>
          <a:lstStyle/>
          <a:p>
            <a:fld id="{8FB7BDB4-03F5-4C92-955B-10EBD2B5CB38}" type="datetimeFigureOut">
              <a:rPr lang="fr-FR" smtClean="0"/>
              <a:t>05/04/2026</a:t>
            </a:fld>
            <a:endParaRPr lang="fr-FR"/>
          </a:p>
        </p:txBody>
      </p:sp>
      <p:sp>
        <p:nvSpPr>
          <p:cNvPr id="5" name="Espace réservé du pied de page 4">
            <a:extLst>
              <a:ext uri="{FF2B5EF4-FFF2-40B4-BE49-F238E27FC236}">
                <a16:creationId xmlns:a16="http://schemas.microsoft.com/office/drawing/2014/main" id="{2CDFA8F4-32FD-6596-83DB-7BFA329DE9D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F6A042B-D74F-CBF9-772E-AD4348B19928}"/>
              </a:ext>
            </a:extLst>
          </p:cNvPr>
          <p:cNvSpPr>
            <a:spLocks noGrp="1"/>
          </p:cNvSpPr>
          <p:nvPr>
            <p:ph type="sldNum" sz="quarter" idx="12"/>
          </p:nvPr>
        </p:nvSpPr>
        <p:spPr/>
        <p:txBody>
          <a:bodyPr/>
          <a:lstStyle/>
          <a:p>
            <a:fld id="{EAE13F4C-B0DC-4344-8400-4464E7583480}" type="slidenum">
              <a:rPr lang="fr-FR" smtClean="0"/>
              <a:t>‹N°›</a:t>
            </a:fld>
            <a:endParaRPr lang="fr-FR"/>
          </a:p>
        </p:txBody>
      </p:sp>
    </p:spTree>
    <p:extLst>
      <p:ext uri="{BB962C8B-B14F-4D97-AF65-F5344CB8AC3E}">
        <p14:creationId xmlns:p14="http://schemas.microsoft.com/office/powerpoint/2010/main" val="1063875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731F726-6675-4D94-DD06-2B594AC98F09}"/>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9E9412FC-27D3-4329-6543-C5C374B6A70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E0699A8A-6F78-26F5-E8BD-9E3C791CA207}"/>
              </a:ext>
            </a:extLst>
          </p:cNvPr>
          <p:cNvSpPr>
            <a:spLocks noGrp="1"/>
          </p:cNvSpPr>
          <p:nvPr>
            <p:ph type="dt" sz="half" idx="10"/>
          </p:nvPr>
        </p:nvSpPr>
        <p:spPr/>
        <p:txBody>
          <a:bodyPr/>
          <a:lstStyle/>
          <a:p>
            <a:fld id="{8FB7BDB4-03F5-4C92-955B-10EBD2B5CB38}" type="datetimeFigureOut">
              <a:rPr lang="fr-FR" smtClean="0"/>
              <a:t>05/04/2026</a:t>
            </a:fld>
            <a:endParaRPr lang="fr-FR"/>
          </a:p>
        </p:txBody>
      </p:sp>
      <p:sp>
        <p:nvSpPr>
          <p:cNvPr id="5" name="Espace réservé du pied de page 4">
            <a:extLst>
              <a:ext uri="{FF2B5EF4-FFF2-40B4-BE49-F238E27FC236}">
                <a16:creationId xmlns:a16="http://schemas.microsoft.com/office/drawing/2014/main" id="{9E9A8241-0390-50AB-FA36-4EAC91FF6C1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2839C57-C274-C4CE-A0C2-A59B4BEDCEFA}"/>
              </a:ext>
            </a:extLst>
          </p:cNvPr>
          <p:cNvSpPr>
            <a:spLocks noGrp="1"/>
          </p:cNvSpPr>
          <p:nvPr>
            <p:ph type="sldNum" sz="quarter" idx="12"/>
          </p:nvPr>
        </p:nvSpPr>
        <p:spPr/>
        <p:txBody>
          <a:bodyPr/>
          <a:lstStyle/>
          <a:p>
            <a:fld id="{EAE13F4C-B0DC-4344-8400-4464E7583480}" type="slidenum">
              <a:rPr lang="fr-FR" smtClean="0"/>
              <a:t>‹N°›</a:t>
            </a:fld>
            <a:endParaRPr lang="fr-FR"/>
          </a:p>
        </p:txBody>
      </p:sp>
    </p:spTree>
    <p:extLst>
      <p:ext uri="{BB962C8B-B14F-4D97-AF65-F5344CB8AC3E}">
        <p14:creationId xmlns:p14="http://schemas.microsoft.com/office/powerpoint/2010/main" val="6994326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D3A1B78-CCAD-65C2-45C5-EED81B232181}"/>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C637506B-7E06-3540-8759-6085A55697CD}"/>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C7D0DD10-A994-A83B-5860-B8F431AE3757}"/>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1404946C-7B3E-E8AD-F8DB-E0B6F06994C4}"/>
              </a:ext>
            </a:extLst>
          </p:cNvPr>
          <p:cNvSpPr>
            <a:spLocks noGrp="1"/>
          </p:cNvSpPr>
          <p:nvPr>
            <p:ph type="dt" sz="half" idx="10"/>
          </p:nvPr>
        </p:nvSpPr>
        <p:spPr/>
        <p:txBody>
          <a:bodyPr/>
          <a:lstStyle/>
          <a:p>
            <a:fld id="{8FB7BDB4-03F5-4C92-955B-10EBD2B5CB38}" type="datetimeFigureOut">
              <a:rPr lang="fr-FR" smtClean="0"/>
              <a:t>05/04/2026</a:t>
            </a:fld>
            <a:endParaRPr lang="fr-FR"/>
          </a:p>
        </p:txBody>
      </p:sp>
      <p:sp>
        <p:nvSpPr>
          <p:cNvPr id="6" name="Espace réservé du pied de page 5">
            <a:extLst>
              <a:ext uri="{FF2B5EF4-FFF2-40B4-BE49-F238E27FC236}">
                <a16:creationId xmlns:a16="http://schemas.microsoft.com/office/drawing/2014/main" id="{9AAD1F19-4EAC-5781-FEC4-99B7C7F17FA7}"/>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1372F96C-5A59-A9BC-2624-449A6D92E5F5}"/>
              </a:ext>
            </a:extLst>
          </p:cNvPr>
          <p:cNvSpPr>
            <a:spLocks noGrp="1"/>
          </p:cNvSpPr>
          <p:nvPr>
            <p:ph type="sldNum" sz="quarter" idx="12"/>
          </p:nvPr>
        </p:nvSpPr>
        <p:spPr/>
        <p:txBody>
          <a:bodyPr/>
          <a:lstStyle/>
          <a:p>
            <a:fld id="{EAE13F4C-B0DC-4344-8400-4464E7583480}" type="slidenum">
              <a:rPr lang="fr-FR" smtClean="0"/>
              <a:t>‹N°›</a:t>
            </a:fld>
            <a:endParaRPr lang="fr-FR"/>
          </a:p>
        </p:txBody>
      </p:sp>
    </p:spTree>
    <p:extLst>
      <p:ext uri="{BB962C8B-B14F-4D97-AF65-F5344CB8AC3E}">
        <p14:creationId xmlns:p14="http://schemas.microsoft.com/office/powerpoint/2010/main" val="19703256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A518943-C99A-74E5-5B71-58C8817A1D7F}"/>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2F18A949-DEA6-29AF-E249-FEA74A5203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7DEAEB9F-69CB-5617-A87A-E185CA5FC665}"/>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EA30E6DB-E27D-7597-ECCF-EC06A06B186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62929676-3311-CF94-D15E-ED61059B49C1}"/>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7E848404-2493-ED95-34B5-D1CCA4A5DC91}"/>
              </a:ext>
            </a:extLst>
          </p:cNvPr>
          <p:cNvSpPr>
            <a:spLocks noGrp="1"/>
          </p:cNvSpPr>
          <p:nvPr>
            <p:ph type="dt" sz="half" idx="10"/>
          </p:nvPr>
        </p:nvSpPr>
        <p:spPr/>
        <p:txBody>
          <a:bodyPr/>
          <a:lstStyle/>
          <a:p>
            <a:fld id="{8FB7BDB4-03F5-4C92-955B-10EBD2B5CB38}" type="datetimeFigureOut">
              <a:rPr lang="fr-FR" smtClean="0"/>
              <a:t>05/04/2026</a:t>
            </a:fld>
            <a:endParaRPr lang="fr-FR"/>
          </a:p>
        </p:txBody>
      </p:sp>
      <p:sp>
        <p:nvSpPr>
          <p:cNvPr id="8" name="Espace réservé du pied de page 7">
            <a:extLst>
              <a:ext uri="{FF2B5EF4-FFF2-40B4-BE49-F238E27FC236}">
                <a16:creationId xmlns:a16="http://schemas.microsoft.com/office/drawing/2014/main" id="{B1E3764A-21AE-64F7-6B85-FFABC1620FA2}"/>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F31088DD-D699-C6C3-5088-843E90058FF0}"/>
              </a:ext>
            </a:extLst>
          </p:cNvPr>
          <p:cNvSpPr>
            <a:spLocks noGrp="1"/>
          </p:cNvSpPr>
          <p:nvPr>
            <p:ph type="sldNum" sz="quarter" idx="12"/>
          </p:nvPr>
        </p:nvSpPr>
        <p:spPr/>
        <p:txBody>
          <a:bodyPr/>
          <a:lstStyle/>
          <a:p>
            <a:fld id="{EAE13F4C-B0DC-4344-8400-4464E7583480}" type="slidenum">
              <a:rPr lang="fr-FR" smtClean="0"/>
              <a:t>‹N°›</a:t>
            </a:fld>
            <a:endParaRPr lang="fr-FR"/>
          </a:p>
        </p:txBody>
      </p:sp>
    </p:spTree>
    <p:extLst>
      <p:ext uri="{BB962C8B-B14F-4D97-AF65-F5344CB8AC3E}">
        <p14:creationId xmlns:p14="http://schemas.microsoft.com/office/powerpoint/2010/main" val="11897280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706406E-95BB-A2C4-FC87-77A22E578AB4}"/>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44F7075F-8ABA-2E25-AD42-BAE1BE4DD689}"/>
              </a:ext>
            </a:extLst>
          </p:cNvPr>
          <p:cNvSpPr>
            <a:spLocks noGrp="1"/>
          </p:cNvSpPr>
          <p:nvPr>
            <p:ph type="dt" sz="half" idx="10"/>
          </p:nvPr>
        </p:nvSpPr>
        <p:spPr/>
        <p:txBody>
          <a:bodyPr/>
          <a:lstStyle/>
          <a:p>
            <a:fld id="{8FB7BDB4-03F5-4C92-955B-10EBD2B5CB38}" type="datetimeFigureOut">
              <a:rPr lang="fr-FR" smtClean="0"/>
              <a:t>05/04/2026</a:t>
            </a:fld>
            <a:endParaRPr lang="fr-FR"/>
          </a:p>
        </p:txBody>
      </p:sp>
      <p:sp>
        <p:nvSpPr>
          <p:cNvPr id="4" name="Espace réservé du pied de page 3">
            <a:extLst>
              <a:ext uri="{FF2B5EF4-FFF2-40B4-BE49-F238E27FC236}">
                <a16:creationId xmlns:a16="http://schemas.microsoft.com/office/drawing/2014/main" id="{B4856494-CE02-74FA-844A-5B9093A6DC78}"/>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B8377DB5-1119-88ED-CBC5-2429995E6072}"/>
              </a:ext>
            </a:extLst>
          </p:cNvPr>
          <p:cNvSpPr>
            <a:spLocks noGrp="1"/>
          </p:cNvSpPr>
          <p:nvPr>
            <p:ph type="sldNum" sz="quarter" idx="12"/>
          </p:nvPr>
        </p:nvSpPr>
        <p:spPr/>
        <p:txBody>
          <a:bodyPr/>
          <a:lstStyle/>
          <a:p>
            <a:fld id="{EAE13F4C-B0DC-4344-8400-4464E7583480}" type="slidenum">
              <a:rPr lang="fr-FR" smtClean="0"/>
              <a:t>‹N°›</a:t>
            </a:fld>
            <a:endParaRPr lang="fr-FR"/>
          </a:p>
        </p:txBody>
      </p:sp>
    </p:spTree>
    <p:extLst>
      <p:ext uri="{BB962C8B-B14F-4D97-AF65-F5344CB8AC3E}">
        <p14:creationId xmlns:p14="http://schemas.microsoft.com/office/powerpoint/2010/main" val="4236079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8D3C5D69-5992-328A-E825-A117B26740CF}"/>
              </a:ext>
            </a:extLst>
          </p:cNvPr>
          <p:cNvSpPr>
            <a:spLocks noGrp="1"/>
          </p:cNvSpPr>
          <p:nvPr>
            <p:ph type="dt" sz="half" idx="10"/>
          </p:nvPr>
        </p:nvSpPr>
        <p:spPr/>
        <p:txBody>
          <a:bodyPr/>
          <a:lstStyle/>
          <a:p>
            <a:fld id="{8FB7BDB4-03F5-4C92-955B-10EBD2B5CB38}" type="datetimeFigureOut">
              <a:rPr lang="fr-FR" smtClean="0"/>
              <a:t>05/04/2026</a:t>
            </a:fld>
            <a:endParaRPr lang="fr-FR"/>
          </a:p>
        </p:txBody>
      </p:sp>
      <p:sp>
        <p:nvSpPr>
          <p:cNvPr id="3" name="Espace réservé du pied de page 2">
            <a:extLst>
              <a:ext uri="{FF2B5EF4-FFF2-40B4-BE49-F238E27FC236}">
                <a16:creationId xmlns:a16="http://schemas.microsoft.com/office/drawing/2014/main" id="{82777E99-B573-912E-578D-786FEF18EAAB}"/>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CE351973-740E-9D55-87C0-7752C075EA55}"/>
              </a:ext>
            </a:extLst>
          </p:cNvPr>
          <p:cNvSpPr>
            <a:spLocks noGrp="1"/>
          </p:cNvSpPr>
          <p:nvPr>
            <p:ph type="sldNum" sz="quarter" idx="12"/>
          </p:nvPr>
        </p:nvSpPr>
        <p:spPr/>
        <p:txBody>
          <a:bodyPr/>
          <a:lstStyle/>
          <a:p>
            <a:fld id="{EAE13F4C-B0DC-4344-8400-4464E7583480}" type="slidenum">
              <a:rPr lang="fr-FR" smtClean="0"/>
              <a:t>‹N°›</a:t>
            </a:fld>
            <a:endParaRPr lang="fr-FR"/>
          </a:p>
        </p:txBody>
      </p:sp>
    </p:spTree>
    <p:extLst>
      <p:ext uri="{BB962C8B-B14F-4D97-AF65-F5344CB8AC3E}">
        <p14:creationId xmlns:p14="http://schemas.microsoft.com/office/powerpoint/2010/main" val="28827832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DEC513-B37A-4719-A115-10678AA05B87}"/>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AA2F8B7A-B909-AB3B-826D-13B2B1E6186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281E6A79-FDCB-C90E-87CD-0FDE512D84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313067BA-3FA6-7C44-BA97-5798F9C09C11}"/>
              </a:ext>
            </a:extLst>
          </p:cNvPr>
          <p:cNvSpPr>
            <a:spLocks noGrp="1"/>
          </p:cNvSpPr>
          <p:nvPr>
            <p:ph type="dt" sz="half" idx="10"/>
          </p:nvPr>
        </p:nvSpPr>
        <p:spPr/>
        <p:txBody>
          <a:bodyPr/>
          <a:lstStyle/>
          <a:p>
            <a:fld id="{8FB7BDB4-03F5-4C92-955B-10EBD2B5CB38}" type="datetimeFigureOut">
              <a:rPr lang="fr-FR" smtClean="0"/>
              <a:t>05/04/2026</a:t>
            </a:fld>
            <a:endParaRPr lang="fr-FR"/>
          </a:p>
        </p:txBody>
      </p:sp>
      <p:sp>
        <p:nvSpPr>
          <p:cNvPr id="6" name="Espace réservé du pied de page 5">
            <a:extLst>
              <a:ext uri="{FF2B5EF4-FFF2-40B4-BE49-F238E27FC236}">
                <a16:creationId xmlns:a16="http://schemas.microsoft.com/office/drawing/2014/main" id="{0EA292DA-5367-4478-AD9E-8EF5C97CD5BA}"/>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B1A4EFAC-457D-B27E-47BB-D5F7DFA00016}"/>
              </a:ext>
            </a:extLst>
          </p:cNvPr>
          <p:cNvSpPr>
            <a:spLocks noGrp="1"/>
          </p:cNvSpPr>
          <p:nvPr>
            <p:ph type="sldNum" sz="quarter" idx="12"/>
          </p:nvPr>
        </p:nvSpPr>
        <p:spPr/>
        <p:txBody>
          <a:bodyPr/>
          <a:lstStyle/>
          <a:p>
            <a:fld id="{EAE13F4C-B0DC-4344-8400-4464E7583480}" type="slidenum">
              <a:rPr lang="fr-FR" smtClean="0"/>
              <a:t>‹N°›</a:t>
            </a:fld>
            <a:endParaRPr lang="fr-FR"/>
          </a:p>
        </p:txBody>
      </p:sp>
    </p:spTree>
    <p:extLst>
      <p:ext uri="{BB962C8B-B14F-4D97-AF65-F5344CB8AC3E}">
        <p14:creationId xmlns:p14="http://schemas.microsoft.com/office/powerpoint/2010/main" val="32986575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27E9DD9-FFC2-43A4-E2DA-28AB88041811}"/>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C01E9B03-7663-4248-2F10-940ADEBBF30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470A64D5-8012-0C57-A312-065C7EA923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FAD59787-A544-BE92-30DA-03B761353B3A}"/>
              </a:ext>
            </a:extLst>
          </p:cNvPr>
          <p:cNvSpPr>
            <a:spLocks noGrp="1"/>
          </p:cNvSpPr>
          <p:nvPr>
            <p:ph type="dt" sz="half" idx="10"/>
          </p:nvPr>
        </p:nvSpPr>
        <p:spPr/>
        <p:txBody>
          <a:bodyPr/>
          <a:lstStyle/>
          <a:p>
            <a:fld id="{8FB7BDB4-03F5-4C92-955B-10EBD2B5CB38}" type="datetimeFigureOut">
              <a:rPr lang="fr-FR" smtClean="0"/>
              <a:t>05/04/2026</a:t>
            </a:fld>
            <a:endParaRPr lang="fr-FR"/>
          </a:p>
        </p:txBody>
      </p:sp>
      <p:sp>
        <p:nvSpPr>
          <p:cNvPr id="6" name="Espace réservé du pied de page 5">
            <a:extLst>
              <a:ext uri="{FF2B5EF4-FFF2-40B4-BE49-F238E27FC236}">
                <a16:creationId xmlns:a16="http://schemas.microsoft.com/office/drawing/2014/main" id="{F1CEC38B-F135-854B-8AFC-3D366941612E}"/>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D10DE745-4DF4-B7F1-F998-5630AB9DAD95}"/>
              </a:ext>
            </a:extLst>
          </p:cNvPr>
          <p:cNvSpPr>
            <a:spLocks noGrp="1"/>
          </p:cNvSpPr>
          <p:nvPr>
            <p:ph type="sldNum" sz="quarter" idx="12"/>
          </p:nvPr>
        </p:nvSpPr>
        <p:spPr/>
        <p:txBody>
          <a:bodyPr/>
          <a:lstStyle/>
          <a:p>
            <a:fld id="{EAE13F4C-B0DC-4344-8400-4464E7583480}" type="slidenum">
              <a:rPr lang="fr-FR" smtClean="0"/>
              <a:t>‹N°›</a:t>
            </a:fld>
            <a:endParaRPr lang="fr-FR"/>
          </a:p>
        </p:txBody>
      </p:sp>
    </p:spTree>
    <p:extLst>
      <p:ext uri="{BB962C8B-B14F-4D97-AF65-F5344CB8AC3E}">
        <p14:creationId xmlns:p14="http://schemas.microsoft.com/office/powerpoint/2010/main" val="38642156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C3BF9F0-07B6-C6E6-12E0-74E81771DB4F}"/>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F74767C4-830C-80D7-40C7-46D50B8B08B0}"/>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15AC418-4BDC-4515-BB4B-90E6210895ED}"/>
              </a:ext>
            </a:extLst>
          </p:cNvPr>
          <p:cNvSpPr>
            <a:spLocks noGrp="1"/>
          </p:cNvSpPr>
          <p:nvPr>
            <p:ph type="dt" sz="half" idx="10"/>
          </p:nvPr>
        </p:nvSpPr>
        <p:spPr/>
        <p:txBody>
          <a:bodyPr/>
          <a:lstStyle/>
          <a:p>
            <a:fld id="{8FB7BDB4-03F5-4C92-955B-10EBD2B5CB38}" type="datetimeFigureOut">
              <a:rPr lang="fr-FR" smtClean="0"/>
              <a:t>05/04/2026</a:t>
            </a:fld>
            <a:endParaRPr lang="fr-FR"/>
          </a:p>
        </p:txBody>
      </p:sp>
      <p:sp>
        <p:nvSpPr>
          <p:cNvPr id="5" name="Espace réservé du pied de page 4">
            <a:extLst>
              <a:ext uri="{FF2B5EF4-FFF2-40B4-BE49-F238E27FC236}">
                <a16:creationId xmlns:a16="http://schemas.microsoft.com/office/drawing/2014/main" id="{5DA032E4-30F6-BF68-A40B-38E6EA71191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E47E0CE-0807-F628-D0A7-94F2F8CDD4A6}"/>
              </a:ext>
            </a:extLst>
          </p:cNvPr>
          <p:cNvSpPr>
            <a:spLocks noGrp="1"/>
          </p:cNvSpPr>
          <p:nvPr>
            <p:ph type="sldNum" sz="quarter" idx="12"/>
          </p:nvPr>
        </p:nvSpPr>
        <p:spPr/>
        <p:txBody>
          <a:bodyPr/>
          <a:lstStyle/>
          <a:p>
            <a:fld id="{EAE13F4C-B0DC-4344-8400-4464E7583480}" type="slidenum">
              <a:rPr lang="fr-FR" smtClean="0"/>
              <a:t>‹N°›</a:t>
            </a:fld>
            <a:endParaRPr lang="fr-FR"/>
          </a:p>
        </p:txBody>
      </p:sp>
    </p:spTree>
    <p:extLst>
      <p:ext uri="{BB962C8B-B14F-4D97-AF65-F5344CB8AC3E}">
        <p14:creationId xmlns:p14="http://schemas.microsoft.com/office/powerpoint/2010/main" val="1309434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286B3942-2EE8-70F5-05E9-FF701F6EF749}"/>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23D3E5B6-69E1-849F-3179-DABDABD0182E}"/>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C9D395F5-9120-FD82-FA06-E51967B5E6E2}"/>
              </a:ext>
            </a:extLst>
          </p:cNvPr>
          <p:cNvSpPr>
            <a:spLocks noGrp="1"/>
          </p:cNvSpPr>
          <p:nvPr>
            <p:ph type="dt" sz="half" idx="10"/>
          </p:nvPr>
        </p:nvSpPr>
        <p:spPr/>
        <p:txBody>
          <a:bodyPr/>
          <a:lstStyle/>
          <a:p>
            <a:fld id="{8FB7BDB4-03F5-4C92-955B-10EBD2B5CB38}" type="datetimeFigureOut">
              <a:rPr lang="fr-FR" smtClean="0"/>
              <a:t>05/04/2026</a:t>
            </a:fld>
            <a:endParaRPr lang="fr-FR"/>
          </a:p>
        </p:txBody>
      </p:sp>
      <p:sp>
        <p:nvSpPr>
          <p:cNvPr id="5" name="Espace réservé du pied de page 4">
            <a:extLst>
              <a:ext uri="{FF2B5EF4-FFF2-40B4-BE49-F238E27FC236}">
                <a16:creationId xmlns:a16="http://schemas.microsoft.com/office/drawing/2014/main" id="{D15AE345-366D-BF47-714A-626BD278335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A12A049-B50D-C44D-E6DD-D5C3E606F915}"/>
              </a:ext>
            </a:extLst>
          </p:cNvPr>
          <p:cNvSpPr>
            <a:spLocks noGrp="1"/>
          </p:cNvSpPr>
          <p:nvPr>
            <p:ph type="sldNum" sz="quarter" idx="12"/>
          </p:nvPr>
        </p:nvSpPr>
        <p:spPr/>
        <p:txBody>
          <a:bodyPr/>
          <a:lstStyle/>
          <a:p>
            <a:fld id="{EAE13F4C-B0DC-4344-8400-4464E7583480}" type="slidenum">
              <a:rPr lang="fr-FR" smtClean="0"/>
              <a:t>‹N°›</a:t>
            </a:fld>
            <a:endParaRPr lang="fr-FR"/>
          </a:p>
        </p:txBody>
      </p:sp>
    </p:spTree>
    <p:extLst>
      <p:ext uri="{BB962C8B-B14F-4D97-AF65-F5344CB8AC3E}">
        <p14:creationId xmlns:p14="http://schemas.microsoft.com/office/powerpoint/2010/main" val="12264323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E15ABABF-7F03-E3D8-F3FE-8D91880A16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8F501750-F58C-5B26-123B-BB7EAFE75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1DE5A5A-3F69-9BA6-BCFD-5B1B5B37938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B7BDB4-03F5-4C92-955B-10EBD2B5CB38}" type="datetimeFigureOut">
              <a:rPr lang="fr-FR" smtClean="0"/>
              <a:t>05/04/2026</a:t>
            </a:fld>
            <a:endParaRPr lang="fr-FR"/>
          </a:p>
        </p:txBody>
      </p:sp>
      <p:sp>
        <p:nvSpPr>
          <p:cNvPr id="5" name="Espace réservé du pied de page 4">
            <a:extLst>
              <a:ext uri="{FF2B5EF4-FFF2-40B4-BE49-F238E27FC236}">
                <a16:creationId xmlns:a16="http://schemas.microsoft.com/office/drawing/2014/main" id="{372294A0-52EA-8FF0-144B-11812EEFE9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BC3749E4-84BD-9038-0006-33718F3141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E13F4C-B0DC-4344-8400-4464E7583480}" type="slidenum">
              <a:rPr lang="fr-FR" smtClean="0"/>
              <a:t>‹N°›</a:t>
            </a:fld>
            <a:endParaRPr lang="fr-FR"/>
          </a:p>
        </p:txBody>
      </p:sp>
    </p:spTree>
    <p:extLst>
      <p:ext uri="{BB962C8B-B14F-4D97-AF65-F5344CB8AC3E}">
        <p14:creationId xmlns:p14="http://schemas.microsoft.com/office/powerpoint/2010/main" val="317925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s3.eu-west-1.amazonaws.com/course.oc-static.com/projects/1047_Data+Scientist+ML/P4_DSML_1047/extrait_eval.csv" TargetMode="External"/><Relationship Id="rId2" Type="http://schemas.openxmlformats.org/officeDocument/2006/relationships/hyperlink" Target="https://s3.eu-west-1.amazonaws.com/course.oc-static.com/projects/1047_Data+Scientist+ML/P4_DSML_1047/extrait_sirh.csv" TargetMode="External"/><Relationship Id="rId1" Type="http://schemas.openxmlformats.org/officeDocument/2006/relationships/slideLayout" Target="../slideLayouts/slideLayout7.xml"/><Relationship Id="rId4" Type="http://schemas.openxmlformats.org/officeDocument/2006/relationships/hyperlink" Target="https://s3.eu-west-1.amazonaws.com/course.oc-static.com/projects/1047_Data+Scientist+ML/P4_DSML_1047/extrait_sondage.csv"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mp"/><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 Id="rId5" Type="http://schemas.openxmlformats.org/officeDocument/2006/relationships/image" Target="../media/image30.png"/><Relationship Id="rId4" Type="http://schemas.openxmlformats.org/officeDocument/2006/relationships/image" Target="../media/image29.png"/></Relationships>
</file>

<file path=ppt/slides/_rels/slide1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1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1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 Id="rId5" Type="http://schemas.openxmlformats.org/officeDocument/2006/relationships/image" Target="../media/image40.png"/><Relationship Id="rId4" Type="http://schemas.openxmlformats.org/officeDocument/2006/relationships/image" Target="../media/image39.png"/></Relationships>
</file>

<file path=ppt/slides/_rels/slide1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7.xml"/><Relationship Id="rId5" Type="http://schemas.openxmlformats.org/officeDocument/2006/relationships/image" Target="../media/image52.png"/><Relationship Id="rId4" Type="http://schemas.openxmlformats.org/officeDocument/2006/relationships/image" Target="../media/image51.png"/></Relationships>
</file>

<file path=ppt/slides/_rels/slide1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706F6A2B-66C0-7388-1BB5-C0A561394893}"/>
              </a:ext>
            </a:extLst>
          </p:cNvPr>
          <p:cNvSpPr txBox="1"/>
          <p:nvPr/>
        </p:nvSpPr>
        <p:spPr>
          <a:xfrm>
            <a:off x="3154837" y="782424"/>
            <a:ext cx="5882326" cy="646331"/>
          </a:xfrm>
          <a:prstGeom prst="rect">
            <a:avLst/>
          </a:prstGeom>
          <a:noFill/>
        </p:spPr>
        <p:txBody>
          <a:bodyPr wrap="square" rtlCol="0">
            <a:spAutoFit/>
          </a:bodyPr>
          <a:lstStyle/>
          <a:p>
            <a:r>
              <a:rPr lang="fr-FR" u="sng" dirty="0">
                <a:latin typeface="Times New Roman" panose="02020603050405020304" pitchFamily="18" charset="0"/>
                <a:cs typeface="Times New Roman" panose="02020603050405020304" pitchFamily="18" charset="0"/>
              </a:rPr>
              <a:t>PROJET 4 : CLASSIFICATION AUTOMATIQUE DES INFORMATIONS</a:t>
            </a:r>
          </a:p>
        </p:txBody>
      </p:sp>
      <p:sp>
        <p:nvSpPr>
          <p:cNvPr id="4" name="ZoneTexte 3">
            <a:extLst>
              <a:ext uri="{FF2B5EF4-FFF2-40B4-BE49-F238E27FC236}">
                <a16:creationId xmlns:a16="http://schemas.microsoft.com/office/drawing/2014/main" id="{123CD48C-DC9C-B2AE-4F82-515C18CF4F66}"/>
              </a:ext>
            </a:extLst>
          </p:cNvPr>
          <p:cNvSpPr txBox="1"/>
          <p:nvPr/>
        </p:nvSpPr>
        <p:spPr>
          <a:xfrm>
            <a:off x="8003357" y="5071621"/>
            <a:ext cx="4053525" cy="1569660"/>
          </a:xfrm>
          <a:prstGeom prst="rect">
            <a:avLst/>
          </a:prstGeom>
          <a:noFill/>
        </p:spPr>
        <p:txBody>
          <a:bodyPr wrap="square" rtlCol="0">
            <a:spAutoFit/>
          </a:bodyPr>
          <a:lstStyle/>
          <a:p>
            <a:r>
              <a:rPr lang="fr-FR" sz="2400" u="sng" dirty="0"/>
              <a:t>DATE DEBUT </a:t>
            </a:r>
            <a:r>
              <a:rPr lang="fr-FR" sz="2400" dirty="0"/>
              <a:t>: 04/03/2026</a:t>
            </a:r>
          </a:p>
          <a:p>
            <a:r>
              <a:rPr lang="fr-FR" sz="2400" dirty="0"/>
              <a:t>OPEN CLASSROOM</a:t>
            </a:r>
          </a:p>
          <a:p>
            <a:r>
              <a:rPr lang="fr-FR" sz="2400" u="sng" dirty="0"/>
              <a:t>MENTOR </a:t>
            </a:r>
            <a:r>
              <a:rPr lang="fr-FR" sz="2400" dirty="0"/>
              <a:t>:MR MUSTAFA ANKARALLI</a:t>
            </a:r>
          </a:p>
        </p:txBody>
      </p:sp>
      <p:sp>
        <p:nvSpPr>
          <p:cNvPr id="5" name="ZoneTexte 4">
            <a:extLst>
              <a:ext uri="{FF2B5EF4-FFF2-40B4-BE49-F238E27FC236}">
                <a16:creationId xmlns:a16="http://schemas.microsoft.com/office/drawing/2014/main" id="{3483BFAE-8F66-EFC9-0B31-FE45433BF335}"/>
              </a:ext>
            </a:extLst>
          </p:cNvPr>
          <p:cNvSpPr txBox="1"/>
          <p:nvPr/>
        </p:nvSpPr>
        <p:spPr>
          <a:xfrm>
            <a:off x="575035" y="1866507"/>
            <a:ext cx="11133056" cy="2585323"/>
          </a:xfrm>
          <a:prstGeom prst="rect">
            <a:avLst/>
          </a:prstGeom>
          <a:noFill/>
        </p:spPr>
        <p:txBody>
          <a:bodyPr wrap="square" rtlCol="0">
            <a:spAutoFit/>
          </a:bodyPr>
          <a:lstStyle/>
          <a:p>
            <a:pPr algn="ctr"/>
            <a:r>
              <a:rPr lang="fr-FR" u="sng" dirty="0">
                <a:latin typeface="Times New Roman" panose="02020603050405020304" pitchFamily="18" charset="0"/>
                <a:cs typeface="Times New Roman" panose="02020603050405020304" pitchFamily="18" charset="0"/>
              </a:rPr>
              <a:t>MISSIONS :</a:t>
            </a:r>
          </a:p>
          <a:p>
            <a:pPr algn="ctr"/>
            <a:endParaRPr lang="fr-FR" u="sng" dirty="0">
              <a:latin typeface="Times New Roman" panose="02020603050405020304" pitchFamily="18" charset="0"/>
              <a:cs typeface="Times New Roman" panose="02020603050405020304" pitchFamily="18" charset="0"/>
            </a:endParaRPr>
          </a:p>
          <a:p>
            <a:r>
              <a:rPr lang="fr-FR" dirty="0">
                <a:latin typeface="Arial" panose="020B0604020202020204" pitchFamily="34" charset="0"/>
                <a:cs typeface="Arial" panose="020B0604020202020204" pitchFamily="34" charset="0"/>
              </a:rPr>
              <a:t>Vous êtes mandaté en tant que Consultant Data Scientist par le département RH de votre client. Il s’agit de l'ESN TechNova Partners, spécialisée dans le conseil en transformation digitale et la vente d’applications en SaaS.</a:t>
            </a:r>
          </a:p>
          <a:p>
            <a:r>
              <a:rPr lang="fr-FR" dirty="0">
                <a:latin typeface="Arial" panose="020B0604020202020204" pitchFamily="34" charset="0"/>
                <a:cs typeface="Arial" panose="020B0604020202020204" pitchFamily="34" charset="0"/>
              </a:rPr>
              <a:t> </a:t>
            </a:r>
          </a:p>
          <a:p>
            <a:r>
              <a:rPr lang="fr-FR" dirty="0">
                <a:latin typeface="Arial" panose="020B0604020202020204" pitchFamily="34" charset="0"/>
                <a:cs typeface="Arial" panose="020B0604020202020204" pitchFamily="34" charset="0"/>
              </a:rPr>
              <a:t>Ils font face à un turnover plus élevé que d'habitude et ils souhaitent identifier les causes racines potentielles derrière ces démissions.</a:t>
            </a:r>
          </a:p>
          <a:p>
            <a:pPr algn="ctr"/>
            <a:endParaRPr lang="fr-FR" u="sng" dirty="0">
              <a:latin typeface="Times New Roman" panose="02020603050405020304" pitchFamily="18" charset="0"/>
              <a:cs typeface="Times New Roman" panose="02020603050405020304" pitchFamily="18" charset="0"/>
            </a:endParaRPr>
          </a:p>
        </p:txBody>
      </p:sp>
      <p:sp>
        <p:nvSpPr>
          <p:cNvPr id="7" name="ZoneTexte 6">
            <a:extLst>
              <a:ext uri="{FF2B5EF4-FFF2-40B4-BE49-F238E27FC236}">
                <a16:creationId xmlns:a16="http://schemas.microsoft.com/office/drawing/2014/main" id="{FBA7F77C-5124-9978-5699-4FEA749FC4B8}"/>
              </a:ext>
            </a:extLst>
          </p:cNvPr>
          <p:cNvSpPr txBox="1"/>
          <p:nvPr/>
        </p:nvSpPr>
        <p:spPr>
          <a:xfrm>
            <a:off x="575035" y="5316718"/>
            <a:ext cx="4977353" cy="1200329"/>
          </a:xfrm>
          <a:prstGeom prst="rect">
            <a:avLst/>
          </a:prstGeom>
          <a:noFill/>
        </p:spPr>
        <p:txBody>
          <a:bodyPr wrap="square" rtlCol="0">
            <a:spAutoFit/>
          </a:bodyPr>
          <a:lstStyle/>
          <a:p>
            <a:r>
              <a:rPr lang="fr-FR" sz="2400" dirty="0"/>
              <a:t>MAMADOU OURY BALDE</a:t>
            </a:r>
          </a:p>
          <a:p>
            <a:r>
              <a:rPr lang="fr-FR" sz="2400" dirty="0"/>
              <a:t>Parcours : Data Scientist Machine Learning </a:t>
            </a:r>
          </a:p>
        </p:txBody>
      </p:sp>
    </p:spTree>
    <p:extLst>
      <p:ext uri="{BB962C8B-B14F-4D97-AF65-F5344CB8AC3E}">
        <p14:creationId xmlns:p14="http://schemas.microsoft.com/office/powerpoint/2010/main" val="32053180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22C5BE3C-F61B-78ED-3F51-7AC66D24793D}"/>
              </a:ext>
            </a:extLst>
          </p:cNvPr>
          <p:cNvSpPr txBox="1"/>
          <p:nvPr/>
        </p:nvSpPr>
        <p:spPr>
          <a:xfrm>
            <a:off x="4194928" y="75414"/>
            <a:ext cx="4854804" cy="646331"/>
          </a:xfrm>
          <a:prstGeom prst="rect">
            <a:avLst/>
          </a:prstGeom>
          <a:noFill/>
        </p:spPr>
        <p:txBody>
          <a:bodyPr wrap="square" rtlCol="0">
            <a:spAutoFit/>
          </a:bodyPr>
          <a:lstStyle/>
          <a:p>
            <a:pPr algn="ctr"/>
            <a:r>
              <a:rPr lang="fr-FR" sz="3600" u="sng" dirty="0">
                <a:solidFill>
                  <a:srgbClr val="00B050"/>
                </a:solidFill>
                <a:latin typeface="Times New Roman" panose="02020603050405020304" pitchFamily="18" charset="0"/>
                <a:cs typeface="Times New Roman" panose="02020603050405020304" pitchFamily="18" charset="0"/>
              </a:rPr>
              <a:t>Plan de travail</a:t>
            </a:r>
          </a:p>
        </p:txBody>
      </p:sp>
      <p:sp>
        <p:nvSpPr>
          <p:cNvPr id="3" name="ZoneTexte 2">
            <a:extLst>
              <a:ext uri="{FF2B5EF4-FFF2-40B4-BE49-F238E27FC236}">
                <a16:creationId xmlns:a16="http://schemas.microsoft.com/office/drawing/2014/main" id="{E6A87E50-E639-AB5E-56FD-3091245E6349}"/>
              </a:ext>
            </a:extLst>
          </p:cNvPr>
          <p:cNvSpPr txBox="1"/>
          <p:nvPr/>
        </p:nvSpPr>
        <p:spPr>
          <a:xfrm>
            <a:off x="537328" y="1300899"/>
            <a:ext cx="11359299" cy="5632311"/>
          </a:xfrm>
          <a:prstGeom prst="rect">
            <a:avLst/>
          </a:prstGeom>
          <a:noFill/>
        </p:spPr>
        <p:txBody>
          <a:bodyPr wrap="square" rtlCol="0">
            <a:spAutoFit/>
          </a:bodyPr>
          <a:lstStyle/>
          <a:p>
            <a:pPr marL="342900" indent="-342900">
              <a:buFont typeface="+mj-lt"/>
              <a:buAutoNum type="arabicPeriod"/>
            </a:pPr>
            <a:r>
              <a:rPr lang="fr-FR" sz="4000" dirty="0">
                <a:latin typeface="Times New Roman" panose="02020603050405020304" pitchFamily="18" charset="0"/>
                <a:cs typeface="Times New Roman" panose="02020603050405020304" pitchFamily="18" charset="0"/>
              </a:rPr>
              <a:t>Introduction</a:t>
            </a:r>
          </a:p>
          <a:p>
            <a:pPr marL="342900" indent="-342900">
              <a:buFont typeface="+mj-lt"/>
              <a:buAutoNum type="arabicPeriod"/>
            </a:pPr>
            <a:r>
              <a:rPr lang="fr-FR" sz="4000" dirty="0">
                <a:latin typeface="Times New Roman" panose="02020603050405020304" pitchFamily="18" charset="0"/>
                <a:cs typeface="Times New Roman" panose="02020603050405020304" pitchFamily="18" charset="0"/>
              </a:rPr>
              <a:t>Exploration des fichiers (EDA)</a:t>
            </a:r>
          </a:p>
          <a:p>
            <a:pPr marL="342900" indent="-342900">
              <a:buFont typeface="+mj-lt"/>
              <a:buAutoNum type="arabicPeriod"/>
            </a:pPr>
            <a:r>
              <a:rPr lang="fr-FR" sz="4000" dirty="0">
                <a:latin typeface="Times New Roman" panose="02020603050405020304" pitchFamily="18" charset="0"/>
                <a:cs typeface="Times New Roman" panose="02020603050405020304" pitchFamily="18" charset="0"/>
              </a:rPr>
              <a:t> Modélisation</a:t>
            </a:r>
          </a:p>
          <a:p>
            <a:pPr marL="342900" indent="-342900">
              <a:buFont typeface="+mj-lt"/>
              <a:buAutoNum type="arabicPeriod"/>
            </a:pPr>
            <a:r>
              <a:rPr lang="fr-FR" sz="4000" dirty="0">
                <a:latin typeface="Times New Roman" panose="02020603050405020304" pitchFamily="18" charset="0"/>
                <a:cs typeface="Times New Roman" panose="02020603050405020304" pitchFamily="18" charset="0"/>
              </a:rPr>
              <a:t>Amélioration Approche Classification</a:t>
            </a:r>
          </a:p>
          <a:p>
            <a:pPr marL="342900" indent="-342900">
              <a:buFont typeface="+mj-lt"/>
              <a:buAutoNum type="arabicPeriod"/>
            </a:pPr>
            <a:r>
              <a:rPr lang="fr-FR" sz="4000" dirty="0">
                <a:latin typeface="Times New Roman" panose="02020603050405020304" pitchFamily="18" charset="0"/>
                <a:cs typeface="Times New Roman" panose="02020603050405020304" pitchFamily="18" charset="0"/>
              </a:rPr>
              <a:t> Feature Engineering</a:t>
            </a:r>
          </a:p>
          <a:p>
            <a:pPr marL="342900" indent="-342900">
              <a:buFont typeface="+mj-lt"/>
              <a:buAutoNum type="arabicPeriod"/>
            </a:pPr>
            <a:r>
              <a:rPr lang="fr-FR" sz="4000" dirty="0">
                <a:latin typeface="Times New Roman" panose="02020603050405020304" pitchFamily="18" charset="0"/>
                <a:cs typeface="Times New Roman" panose="02020603050405020304" pitchFamily="18" charset="0"/>
              </a:rPr>
              <a:t>Optimisations Interprétations Modèle</a:t>
            </a:r>
          </a:p>
          <a:p>
            <a:pPr marL="342900" indent="-342900">
              <a:buFont typeface="+mj-lt"/>
              <a:buAutoNum type="arabicPeriod"/>
            </a:pPr>
            <a:r>
              <a:rPr lang="fr-FR" sz="4000" dirty="0">
                <a:latin typeface="Times New Roman" panose="02020603050405020304" pitchFamily="18" charset="0"/>
                <a:cs typeface="Times New Roman" panose="02020603050405020304" pitchFamily="18" charset="0"/>
              </a:rPr>
              <a:t>Conclusion</a:t>
            </a:r>
          </a:p>
          <a:p>
            <a:pPr marL="342900" indent="-342900">
              <a:buFont typeface="+mj-lt"/>
              <a:buAutoNum type="arabicPeriod"/>
            </a:pPr>
            <a:endParaRPr lang="fr-FR" sz="4000" dirty="0">
              <a:latin typeface="Times New Roman" panose="02020603050405020304" pitchFamily="18" charset="0"/>
              <a:cs typeface="Times New Roman" panose="02020603050405020304" pitchFamily="18" charset="0"/>
            </a:endParaRPr>
          </a:p>
          <a:p>
            <a:pPr marL="342900" indent="-342900">
              <a:buFont typeface="+mj-lt"/>
              <a:buAutoNum type="arabicPeriod"/>
            </a:pPr>
            <a:endParaRPr lang="fr-FR"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18750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04A4667A-7546-FDA3-23E6-08ADA248BC0E}"/>
              </a:ext>
            </a:extLst>
          </p:cNvPr>
          <p:cNvSpPr txBox="1"/>
          <p:nvPr/>
        </p:nvSpPr>
        <p:spPr>
          <a:xfrm>
            <a:off x="2865748" y="386499"/>
            <a:ext cx="6853287" cy="923330"/>
          </a:xfrm>
          <a:prstGeom prst="rect">
            <a:avLst/>
          </a:prstGeom>
          <a:noFill/>
        </p:spPr>
        <p:txBody>
          <a:bodyPr wrap="square" rtlCol="0">
            <a:spAutoFit/>
          </a:bodyPr>
          <a:lstStyle/>
          <a:p>
            <a:r>
              <a:rPr lang="fr-FR" dirty="0"/>
              <a:t>A cet effet l’entreprise nous propose trois fichiers contenants</a:t>
            </a:r>
          </a:p>
          <a:p>
            <a:r>
              <a:rPr lang="fr-FR" dirty="0"/>
              <a:t>ces analyses effectuées au préalable qui seront la base pour nous dans la réalisation de la prédiction</a:t>
            </a:r>
          </a:p>
        </p:txBody>
      </p:sp>
      <p:sp>
        <p:nvSpPr>
          <p:cNvPr id="3" name="ZoneTexte 2">
            <a:extLst>
              <a:ext uri="{FF2B5EF4-FFF2-40B4-BE49-F238E27FC236}">
                <a16:creationId xmlns:a16="http://schemas.microsoft.com/office/drawing/2014/main" id="{003E3FBC-E296-241A-9BF0-766121D528B7}"/>
              </a:ext>
            </a:extLst>
          </p:cNvPr>
          <p:cNvSpPr txBox="1"/>
          <p:nvPr/>
        </p:nvSpPr>
        <p:spPr>
          <a:xfrm>
            <a:off x="329938" y="1885361"/>
            <a:ext cx="11538408" cy="3139321"/>
          </a:xfrm>
          <a:prstGeom prst="rect">
            <a:avLst/>
          </a:prstGeom>
          <a:noFill/>
        </p:spPr>
        <p:txBody>
          <a:bodyPr wrap="square" rtlCol="0">
            <a:spAutoFit/>
          </a:bodyPr>
          <a:lstStyle/>
          <a:p>
            <a:pPr marL="285750" indent="-285750">
              <a:buFont typeface="Arial" panose="020B0604020202020204" pitchFamily="34" charset="0"/>
              <a:buChar char="•"/>
            </a:pPr>
            <a:r>
              <a:rPr lang="fr-FR" b="1" dirty="0"/>
              <a:t>Un extrait de notre système SIRH</a:t>
            </a:r>
            <a:r>
              <a:rPr lang="fr-FR" dirty="0"/>
              <a:t> où l’on va trouver des informations sur la fonction qu’occupe un employé chez nous  ainsi que son âge, salaire, ancienneté etc.) ainsi que ses informations sociodémographiques.</a:t>
            </a:r>
          </a:p>
          <a:p>
            <a:pPr marL="285750" indent="-285750">
              <a:buFont typeface="Arial" panose="020B0604020202020204" pitchFamily="34" charset="0"/>
              <a:buChar char="•"/>
            </a:pPr>
            <a:r>
              <a:rPr lang="fr-FR" b="1" dirty="0"/>
              <a:t>Un extrait d’un autre SI</a:t>
            </a:r>
            <a:r>
              <a:rPr lang="fr-FR" dirty="0"/>
              <a:t> que l’on utilise spécifiquement pour les</a:t>
            </a:r>
            <a:r>
              <a:rPr lang="fr-FR" b="1" dirty="0"/>
              <a:t> évaluations annuelles de performance</a:t>
            </a:r>
            <a:r>
              <a:rPr lang="fr-FR" dirty="0"/>
              <a:t>. On y retrouve des informations telles que les notes de ces évaluations et des notes de satisfaction données par les employés.</a:t>
            </a:r>
          </a:p>
          <a:p>
            <a:pPr marL="285750" indent="-285750">
              <a:buFont typeface="Arial" panose="020B0604020202020204" pitchFamily="34" charset="0"/>
              <a:buChar char="•"/>
            </a:pPr>
            <a:r>
              <a:rPr lang="fr-FR" dirty="0"/>
              <a:t>Enfin, nous demandons aussi à tous nos employés de remplir annuellement un </a:t>
            </a:r>
            <a:r>
              <a:rPr lang="fr-FR" b="1" dirty="0"/>
              <a:t>sondage </a:t>
            </a:r>
            <a:r>
              <a:rPr lang="fr-FR" dirty="0"/>
              <a:t>qui nous aide à mettre en place des actions pour le bien-être des employés. Voici à disposition l’extrait du sondage le plus récent. Nous y avons ajouté </a:t>
            </a:r>
            <a:r>
              <a:rPr lang="fr-FR" b="1" dirty="0"/>
              <a:t>un témoin pour indiquer si l’employé a quitté l’entreprise ou non</a:t>
            </a:r>
            <a:r>
              <a:rPr lang="fr-FR" dirty="0"/>
              <a:t>.</a:t>
            </a:r>
          </a:p>
          <a:p>
            <a:pPr marL="285750" indent="-285750">
              <a:buFont typeface="Arial" panose="020B0604020202020204" pitchFamily="34" charset="0"/>
              <a:buChar char="•"/>
            </a:pPr>
            <a:r>
              <a:rPr lang="fr-FR" dirty="0"/>
              <a:t>Source des données :</a:t>
            </a:r>
          </a:p>
          <a:p>
            <a:pPr marL="742950" lvl="1" indent="-285750">
              <a:buFont typeface="Arial" panose="020B0604020202020204" pitchFamily="34" charset="0"/>
              <a:buChar char="•"/>
            </a:pPr>
            <a:r>
              <a:rPr lang="fr-FR" dirty="0">
                <a:hlinkClick r:id="rId2"/>
              </a:rPr>
              <a:t>Extrait SIRH.csv</a:t>
            </a:r>
            <a:endParaRPr lang="fr-FR" dirty="0"/>
          </a:p>
          <a:p>
            <a:pPr marL="742950" lvl="1" indent="-285750">
              <a:buFont typeface="Arial" panose="020B0604020202020204" pitchFamily="34" charset="0"/>
              <a:buChar char="•"/>
            </a:pPr>
            <a:r>
              <a:rPr lang="fr-FR" dirty="0">
                <a:hlinkClick r:id="rId3"/>
              </a:rPr>
              <a:t>Extrait évaluations de performance </a:t>
            </a:r>
            <a:endParaRPr lang="fr-FR" dirty="0"/>
          </a:p>
          <a:p>
            <a:pPr marL="742950" lvl="1" indent="-285750">
              <a:buFont typeface="Arial" panose="020B0604020202020204" pitchFamily="34" charset="0"/>
              <a:buChar char="•"/>
            </a:pPr>
            <a:r>
              <a:rPr lang="fr-FR" dirty="0">
                <a:hlinkClick r:id="rId4"/>
              </a:rPr>
              <a:t>Extrait sondage</a:t>
            </a:r>
            <a:endParaRPr lang="fr-FR" dirty="0"/>
          </a:p>
        </p:txBody>
      </p:sp>
      <p:sp>
        <p:nvSpPr>
          <p:cNvPr id="4" name="ZoneTexte 3">
            <a:extLst>
              <a:ext uri="{FF2B5EF4-FFF2-40B4-BE49-F238E27FC236}">
                <a16:creationId xmlns:a16="http://schemas.microsoft.com/office/drawing/2014/main" id="{9BC8F25A-FA4E-24EF-F379-42CE5BB4A334}"/>
              </a:ext>
            </a:extLst>
          </p:cNvPr>
          <p:cNvSpPr txBox="1"/>
          <p:nvPr/>
        </p:nvSpPr>
        <p:spPr>
          <a:xfrm>
            <a:off x="9194277" y="4156724"/>
            <a:ext cx="1759670" cy="1754326"/>
          </a:xfrm>
          <a:prstGeom prst="rect">
            <a:avLst/>
          </a:prstGeom>
          <a:noFill/>
        </p:spPr>
        <p:txBody>
          <a:bodyPr wrap="square" rtlCol="0">
            <a:spAutoFit/>
          </a:bodyPr>
          <a:lstStyle/>
          <a:p>
            <a:r>
              <a:rPr lang="fr-FR" dirty="0"/>
              <a:t>Librairies :</a:t>
            </a:r>
          </a:p>
          <a:p>
            <a:pPr marL="285750" indent="-285750">
              <a:buFont typeface="Arial" panose="020B0604020202020204" pitchFamily="34" charset="0"/>
              <a:buChar char="•"/>
            </a:pPr>
            <a:r>
              <a:rPr lang="fr-FR" dirty="0"/>
              <a:t>Numpy</a:t>
            </a:r>
          </a:p>
          <a:p>
            <a:pPr marL="285750" indent="-285750">
              <a:buFont typeface="Arial" panose="020B0604020202020204" pitchFamily="34" charset="0"/>
              <a:buChar char="•"/>
            </a:pPr>
            <a:r>
              <a:rPr lang="fr-FR" dirty="0"/>
              <a:t>Pandas</a:t>
            </a:r>
          </a:p>
          <a:p>
            <a:pPr marL="285750" indent="-285750">
              <a:buFont typeface="Arial" panose="020B0604020202020204" pitchFamily="34" charset="0"/>
              <a:buChar char="•"/>
            </a:pPr>
            <a:r>
              <a:rPr lang="fr-FR" dirty="0"/>
              <a:t>Matplotlib</a:t>
            </a:r>
          </a:p>
          <a:p>
            <a:pPr marL="285750" indent="-285750">
              <a:buFont typeface="Arial" panose="020B0604020202020204" pitchFamily="34" charset="0"/>
              <a:buChar char="•"/>
            </a:pPr>
            <a:r>
              <a:rPr lang="fr-FR" dirty="0"/>
              <a:t>Seaborn</a:t>
            </a:r>
          </a:p>
          <a:p>
            <a:pPr marL="285750" indent="-285750">
              <a:buFont typeface="Arial" panose="020B0604020202020204" pitchFamily="34" charset="0"/>
              <a:buChar char="•"/>
            </a:pPr>
            <a:r>
              <a:rPr lang="fr-FR" dirty="0"/>
              <a:t>Shap</a:t>
            </a:r>
          </a:p>
        </p:txBody>
      </p:sp>
    </p:spTree>
    <p:extLst>
      <p:ext uri="{BB962C8B-B14F-4D97-AF65-F5344CB8AC3E}">
        <p14:creationId xmlns:p14="http://schemas.microsoft.com/office/powerpoint/2010/main" val="33553855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D17304DB-8125-5D04-9839-7484BA23C0CD}"/>
              </a:ext>
            </a:extLst>
          </p:cNvPr>
          <p:cNvSpPr txBox="1"/>
          <p:nvPr/>
        </p:nvSpPr>
        <p:spPr>
          <a:xfrm>
            <a:off x="3497344" y="216816"/>
            <a:ext cx="6033155" cy="646331"/>
          </a:xfrm>
          <a:prstGeom prst="rect">
            <a:avLst/>
          </a:prstGeom>
          <a:noFill/>
        </p:spPr>
        <p:txBody>
          <a:bodyPr wrap="square" rtlCol="0">
            <a:spAutoFit/>
          </a:bodyPr>
          <a:lstStyle/>
          <a:p>
            <a:pPr algn="ctr"/>
            <a:r>
              <a:rPr lang="fr-FR" u="sng" dirty="0">
                <a:latin typeface="Times New Roman" panose="02020603050405020304" pitchFamily="18" charset="0"/>
                <a:cs typeface="Times New Roman" panose="02020603050405020304" pitchFamily="18" charset="0"/>
              </a:rPr>
              <a:t>DÉCOUVRONS LES FICHIERS:</a:t>
            </a:r>
          </a:p>
          <a:p>
            <a:pPr algn="ctr"/>
            <a:r>
              <a:rPr lang="fr-FR" u="sng" dirty="0">
                <a:latin typeface="Times New Roman" panose="02020603050405020304" pitchFamily="18" charset="0"/>
                <a:cs typeface="Times New Roman" panose="02020603050405020304" pitchFamily="18" charset="0"/>
              </a:rPr>
              <a:t>1- Extrait evaluation performance</a:t>
            </a:r>
          </a:p>
        </p:txBody>
      </p:sp>
      <p:pic>
        <p:nvPicPr>
          <p:cNvPr id="4" name="Image 3">
            <a:extLst>
              <a:ext uri="{FF2B5EF4-FFF2-40B4-BE49-F238E27FC236}">
                <a16:creationId xmlns:a16="http://schemas.microsoft.com/office/drawing/2014/main" id="{E6216BE2-7641-655D-9593-6719A77FCC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65230"/>
            <a:ext cx="5678080" cy="3855562"/>
          </a:xfrm>
          <a:prstGeom prst="rect">
            <a:avLst/>
          </a:prstGeom>
        </p:spPr>
      </p:pic>
      <p:pic>
        <p:nvPicPr>
          <p:cNvPr id="6" name="Image 5">
            <a:extLst>
              <a:ext uri="{FF2B5EF4-FFF2-40B4-BE49-F238E27FC236}">
                <a16:creationId xmlns:a16="http://schemas.microsoft.com/office/drawing/2014/main" id="{DD86AA0E-1492-8BC1-3259-204D594F8707}"/>
              </a:ext>
            </a:extLst>
          </p:cNvPr>
          <p:cNvPicPr>
            <a:picLocks noChangeAspect="1"/>
          </p:cNvPicPr>
          <p:nvPr/>
        </p:nvPicPr>
        <p:blipFill>
          <a:blip r:embed="rId3"/>
          <a:stretch>
            <a:fillRect/>
          </a:stretch>
        </p:blipFill>
        <p:spPr>
          <a:xfrm>
            <a:off x="5678081" y="1065230"/>
            <a:ext cx="2956872" cy="3756581"/>
          </a:xfrm>
          <a:prstGeom prst="rect">
            <a:avLst/>
          </a:prstGeom>
        </p:spPr>
      </p:pic>
      <p:pic>
        <p:nvPicPr>
          <p:cNvPr id="8" name="Image 7">
            <a:extLst>
              <a:ext uri="{FF2B5EF4-FFF2-40B4-BE49-F238E27FC236}">
                <a16:creationId xmlns:a16="http://schemas.microsoft.com/office/drawing/2014/main" id="{A575DEAA-FADE-8270-6906-C74A6E83A786}"/>
              </a:ext>
            </a:extLst>
          </p:cNvPr>
          <p:cNvPicPr>
            <a:picLocks noChangeAspect="1"/>
          </p:cNvPicPr>
          <p:nvPr/>
        </p:nvPicPr>
        <p:blipFill>
          <a:blip r:embed="rId4"/>
          <a:stretch>
            <a:fillRect/>
          </a:stretch>
        </p:blipFill>
        <p:spPr>
          <a:xfrm>
            <a:off x="0" y="4920792"/>
            <a:ext cx="12283126" cy="1937208"/>
          </a:xfrm>
          <a:prstGeom prst="rect">
            <a:avLst/>
          </a:prstGeom>
        </p:spPr>
      </p:pic>
      <p:pic>
        <p:nvPicPr>
          <p:cNvPr id="10" name="Image 9">
            <a:extLst>
              <a:ext uri="{FF2B5EF4-FFF2-40B4-BE49-F238E27FC236}">
                <a16:creationId xmlns:a16="http://schemas.microsoft.com/office/drawing/2014/main" id="{38FAB624-3D7E-8E84-D14F-CD6348BFF8AC}"/>
              </a:ext>
            </a:extLst>
          </p:cNvPr>
          <p:cNvPicPr>
            <a:picLocks noChangeAspect="1"/>
          </p:cNvPicPr>
          <p:nvPr/>
        </p:nvPicPr>
        <p:blipFill>
          <a:blip r:embed="rId5"/>
          <a:stretch>
            <a:fillRect/>
          </a:stretch>
        </p:blipFill>
        <p:spPr>
          <a:xfrm>
            <a:off x="8653807" y="1065230"/>
            <a:ext cx="3538193" cy="3756582"/>
          </a:xfrm>
          <a:prstGeom prst="rect">
            <a:avLst/>
          </a:prstGeom>
        </p:spPr>
      </p:pic>
    </p:spTree>
    <p:extLst>
      <p:ext uri="{BB962C8B-B14F-4D97-AF65-F5344CB8AC3E}">
        <p14:creationId xmlns:p14="http://schemas.microsoft.com/office/powerpoint/2010/main" val="20385384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B927C034-D554-4C86-5874-0AD2B252E7BB}"/>
              </a:ext>
            </a:extLst>
          </p:cNvPr>
          <p:cNvSpPr txBox="1"/>
          <p:nvPr/>
        </p:nvSpPr>
        <p:spPr>
          <a:xfrm>
            <a:off x="2630078" y="188536"/>
            <a:ext cx="6438508" cy="1008668"/>
          </a:xfrm>
          <a:prstGeom prst="rect">
            <a:avLst/>
          </a:prstGeom>
          <a:noFill/>
        </p:spPr>
        <p:txBody>
          <a:bodyPr wrap="square" rtlCol="0">
            <a:spAutoFit/>
          </a:bodyPr>
          <a:lstStyle/>
          <a:p>
            <a:endParaRPr lang="fr-FR" dirty="0"/>
          </a:p>
        </p:txBody>
      </p:sp>
      <p:pic>
        <p:nvPicPr>
          <p:cNvPr id="4" name="Image 3">
            <a:extLst>
              <a:ext uri="{FF2B5EF4-FFF2-40B4-BE49-F238E27FC236}">
                <a16:creationId xmlns:a16="http://schemas.microsoft.com/office/drawing/2014/main" id="{5248CB02-CDFD-890D-9730-2E43DBC56D03}"/>
              </a:ext>
            </a:extLst>
          </p:cNvPr>
          <p:cNvPicPr>
            <a:picLocks noChangeAspect="1"/>
          </p:cNvPicPr>
          <p:nvPr/>
        </p:nvPicPr>
        <p:blipFill>
          <a:blip r:embed="rId2"/>
          <a:stretch>
            <a:fillRect/>
          </a:stretch>
        </p:blipFill>
        <p:spPr>
          <a:xfrm>
            <a:off x="0" y="0"/>
            <a:ext cx="3252247" cy="2997722"/>
          </a:xfrm>
          <a:prstGeom prst="rect">
            <a:avLst/>
          </a:prstGeom>
        </p:spPr>
      </p:pic>
      <p:pic>
        <p:nvPicPr>
          <p:cNvPr id="6" name="Image 5">
            <a:extLst>
              <a:ext uri="{FF2B5EF4-FFF2-40B4-BE49-F238E27FC236}">
                <a16:creationId xmlns:a16="http://schemas.microsoft.com/office/drawing/2014/main" id="{8B9F974B-701D-AD4F-B5E4-C57772AFC3BA}"/>
              </a:ext>
            </a:extLst>
          </p:cNvPr>
          <p:cNvPicPr>
            <a:picLocks noChangeAspect="1"/>
          </p:cNvPicPr>
          <p:nvPr/>
        </p:nvPicPr>
        <p:blipFill>
          <a:blip r:embed="rId3"/>
          <a:stretch>
            <a:fillRect/>
          </a:stretch>
        </p:blipFill>
        <p:spPr>
          <a:xfrm>
            <a:off x="3252247" y="0"/>
            <a:ext cx="4694549" cy="2818614"/>
          </a:xfrm>
          <a:prstGeom prst="rect">
            <a:avLst/>
          </a:prstGeom>
        </p:spPr>
      </p:pic>
      <p:pic>
        <p:nvPicPr>
          <p:cNvPr id="8" name="Image 7">
            <a:extLst>
              <a:ext uri="{FF2B5EF4-FFF2-40B4-BE49-F238E27FC236}">
                <a16:creationId xmlns:a16="http://schemas.microsoft.com/office/drawing/2014/main" id="{543F48FB-7CA3-FB79-268B-231AFAB9DC51}"/>
              </a:ext>
            </a:extLst>
          </p:cNvPr>
          <p:cNvPicPr>
            <a:picLocks noChangeAspect="1"/>
          </p:cNvPicPr>
          <p:nvPr/>
        </p:nvPicPr>
        <p:blipFill>
          <a:blip r:embed="rId4"/>
          <a:stretch>
            <a:fillRect/>
          </a:stretch>
        </p:blipFill>
        <p:spPr>
          <a:xfrm>
            <a:off x="7861955" y="-179108"/>
            <a:ext cx="4053525" cy="3608108"/>
          </a:xfrm>
          <a:prstGeom prst="rect">
            <a:avLst/>
          </a:prstGeom>
        </p:spPr>
      </p:pic>
      <p:pic>
        <p:nvPicPr>
          <p:cNvPr id="10" name="Image 9">
            <a:extLst>
              <a:ext uri="{FF2B5EF4-FFF2-40B4-BE49-F238E27FC236}">
                <a16:creationId xmlns:a16="http://schemas.microsoft.com/office/drawing/2014/main" id="{1F19C152-C2AA-8983-86E1-D7FC5E39009B}"/>
              </a:ext>
            </a:extLst>
          </p:cNvPr>
          <p:cNvPicPr>
            <a:picLocks noChangeAspect="1"/>
          </p:cNvPicPr>
          <p:nvPr/>
        </p:nvPicPr>
        <p:blipFill>
          <a:blip r:embed="rId5"/>
          <a:stretch>
            <a:fillRect/>
          </a:stretch>
        </p:blipFill>
        <p:spPr>
          <a:xfrm>
            <a:off x="0" y="3429000"/>
            <a:ext cx="12192000" cy="3428999"/>
          </a:xfrm>
          <a:prstGeom prst="rect">
            <a:avLst/>
          </a:prstGeom>
        </p:spPr>
      </p:pic>
    </p:spTree>
    <p:extLst>
      <p:ext uri="{BB962C8B-B14F-4D97-AF65-F5344CB8AC3E}">
        <p14:creationId xmlns:p14="http://schemas.microsoft.com/office/powerpoint/2010/main" val="34345251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8BDF3A4A-BC13-D4D7-F371-FC1F311B04A0}"/>
              </a:ext>
            </a:extLst>
          </p:cNvPr>
          <p:cNvSpPr txBox="1"/>
          <p:nvPr/>
        </p:nvSpPr>
        <p:spPr>
          <a:xfrm>
            <a:off x="4374037" y="0"/>
            <a:ext cx="4317476" cy="369332"/>
          </a:xfrm>
          <a:prstGeom prst="rect">
            <a:avLst/>
          </a:prstGeom>
          <a:noFill/>
        </p:spPr>
        <p:txBody>
          <a:bodyPr wrap="square" rtlCol="0">
            <a:spAutoFit/>
          </a:bodyPr>
          <a:lstStyle/>
          <a:p>
            <a:r>
              <a:rPr lang="fr-FR" u="sng" dirty="0">
                <a:latin typeface="Times New Roman" panose="02020603050405020304" pitchFamily="18" charset="0"/>
                <a:cs typeface="Times New Roman" panose="02020603050405020304" pitchFamily="18" charset="0"/>
              </a:rPr>
              <a:t>2- Extrait SIRH:</a:t>
            </a:r>
          </a:p>
        </p:txBody>
      </p:sp>
      <p:pic>
        <p:nvPicPr>
          <p:cNvPr id="5" name="Image 4">
            <a:extLst>
              <a:ext uri="{FF2B5EF4-FFF2-40B4-BE49-F238E27FC236}">
                <a16:creationId xmlns:a16="http://schemas.microsoft.com/office/drawing/2014/main" id="{1F8B2BAF-6A03-66DC-CCD3-A364314D6B39}"/>
              </a:ext>
            </a:extLst>
          </p:cNvPr>
          <p:cNvPicPr>
            <a:picLocks noChangeAspect="1"/>
          </p:cNvPicPr>
          <p:nvPr/>
        </p:nvPicPr>
        <p:blipFill>
          <a:blip r:embed="rId2"/>
          <a:stretch>
            <a:fillRect/>
          </a:stretch>
        </p:blipFill>
        <p:spPr>
          <a:xfrm>
            <a:off x="0" y="369332"/>
            <a:ext cx="5250730" cy="3325975"/>
          </a:xfrm>
          <a:prstGeom prst="rect">
            <a:avLst/>
          </a:prstGeom>
        </p:spPr>
      </p:pic>
      <p:pic>
        <p:nvPicPr>
          <p:cNvPr id="7" name="Image 6">
            <a:extLst>
              <a:ext uri="{FF2B5EF4-FFF2-40B4-BE49-F238E27FC236}">
                <a16:creationId xmlns:a16="http://schemas.microsoft.com/office/drawing/2014/main" id="{A81C81FA-C7BE-BC0E-ADBC-C32DC99C3D81}"/>
              </a:ext>
            </a:extLst>
          </p:cNvPr>
          <p:cNvPicPr>
            <a:picLocks noChangeAspect="1"/>
          </p:cNvPicPr>
          <p:nvPr/>
        </p:nvPicPr>
        <p:blipFill>
          <a:blip r:embed="rId3"/>
          <a:stretch>
            <a:fillRect/>
          </a:stretch>
        </p:blipFill>
        <p:spPr>
          <a:xfrm>
            <a:off x="5250731" y="369331"/>
            <a:ext cx="2903456" cy="3505085"/>
          </a:xfrm>
          <a:prstGeom prst="rect">
            <a:avLst/>
          </a:prstGeom>
        </p:spPr>
      </p:pic>
      <p:pic>
        <p:nvPicPr>
          <p:cNvPr id="9" name="Image 8">
            <a:extLst>
              <a:ext uri="{FF2B5EF4-FFF2-40B4-BE49-F238E27FC236}">
                <a16:creationId xmlns:a16="http://schemas.microsoft.com/office/drawing/2014/main" id="{A2B48DE4-AAD5-3E2A-BFB0-8FC1F9BCFA74}"/>
              </a:ext>
            </a:extLst>
          </p:cNvPr>
          <p:cNvPicPr>
            <a:picLocks noChangeAspect="1"/>
          </p:cNvPicPr>
          <p:nvPr/>
        </p:nvPicPr>
        <p:blipFill>
          <a:blip r:embed="rId4"/>
          <a:stretch>
            <a:fillRect/>
          </a:stretch>
        </p:blipFill>
        <p:spPr>
          <a:xfrm>
            <a:off x="8154187" y="369330"/>
            <a:ext cx="4037813" cy="3505085"/>
          </a:xfrm>
          <a:prstGeom prst="rect">
            <a:avLst/>
          </a:prstGeom>
        </p:spPr>
      </p:pic>
      <p:pic>
        <p:nvPicPr>
          <p:cNvPr id="11" name="Image 10">
            <a:extLst>
              <a:ext uri="{FF2B5EF4-FFF2-40B4-BE49-F238E27FC236}">
                <a16:creationId xmlns:a16="http://schemas.microsoft.com/office/drawing/2014/main" id="{4C4CF0F3-519C-DF58-A40D-608FB6615640}"/>
              </a:ext>
            </a:extLst>
          </p:cNvPr>
          <p:cNvPicPr>
            <a:picLocks noChangeAspect="1"/>
          </p:cNvPicPr>
          <p:nvPr/>
        </p:nvPicPr>
        <p:blipFill>
          <a:blip r:embed="rId5"/>
          <a:stretch>
            <a:fillRect/>
          </a:stretch>
        </p:blipFill>
        <p:spPr>
          <a:xfrm>
            <a:off x="0" y="4108239"/>
            <a:ext cx="2793475" cy="2749761"/>
          </a:xfrm>
          <a:prstGeom prst="rect">
            <a:avLst/>
          </a:prstGeom>
        </p:spPr>
      </p:pic>
      <p:pic>
        <p:nvPicPr>
          <p:cNvPr id="13" name="Image 12">
            <a:extLst>
              <a:ext uri="{FF2B5EF4-FFF2-40B4-BE49-F238E27FC236}">
                <a16:creationId xmlns:a16="http://schemas.microsoft.com/office/drawing/2014/main" id="{5E22C413-1BFB-0429-EC0B-C91D2F61D714}"/>
              </a:ext>
            </a:extLst>
          </p:cNvPr>
          <p:cNvPicPr>
            <a:picLocks noChangeAspect="1"/>
          </p:cNvPicPr>
          <p:nvPr/>
        </p:nvPicPr>
        <p:blipFill>
          <a:blip r:embed="rId6"/>
          <a:stretch>
            <a:fillRect/>
          </a:stretch>
        </p:blipFill>
        <p:spPr>
          <a:xfrm>
            <a:off x="2793475" y="4108242"/>
            <a:ext cx="2551523" cy="2749757"/>
          </a:xfrm>
          <a:prstGeom prst="rect">
            <a:avLst/>
          </a:prstGeom>
        </p:spPr>
      </p:pic>
      <p:pic>
        <p:nvPicPr>
          <p:cNvPr id="15" name="Image 14">
            <a:extLst>
              <a:ext uri="{FF2B5EF4-FFF2-40B4-BE49-F238E27FC236}">
                <a16:creationId xmlns:a16="http://schemas.microsoft.com/office/drawing/2014/main" id="{E3D14314-F357-FE6D-89ED-051A0D0F41CA}"/>
              </a:ext>
            </a:extLst>
          </p:cNvPr>
          <p:cNvPicPr>
            <a:picLocks noChangeAspect="1"/>
          </p:cNvPicPr>
          <p:nvPr/>
        </p:nvPicPr>
        <p:blipFill>
          <a:blip r:embed="rId7"/>
          <a:stretch>
            <a:fillRect/>
          </a:stretch>
        </p:blipFill>
        <p:spPr>
          <a:xfrm>
            <a:off x="7329339" y="4108240"/>
            <a:ext cx="1984344" cy="2749757"/>
          </a:xfrm>
          <a:prstGeom prst="rect">
            <a:avLst/>
          </a:prstGeom>
        </p:spPr>
      </p:pic>
      <p:pic>
        <p:nvPicPr>
          <p:cNvPr id="17" name="Image 16">
            <a:extLst>
              <a:ext uri="{FF2B5EF4-FFF2-40B4-BE49-F238E27FC236}">
                <a16:creationId xmlns:a16="http://schemas.microsoft.com/office/drawing/2014/main" id="{8585A2A1-D750-80F7-5CC9-2B36F37305B2}"/>
              </a:ext>
            </a:extLst>
          </p:cNvPr>
          <p:cNvPicPr>
            <a:picLocks noChangeAspect="1"/>
          </p:cNvPicPr>
          <p:nvPr/>
        </p:nvPicPr>
        <p:blipFill>
          <a:blip r:embed="rId8"/>
          <a:stretch>
            <a:fillRect/>
          </a:stretch>
        </p:blipFill>
        <p:spPr>
          <a:xfrm>
            <a:off x="5344998" y="4108241"/>
            <a:ext cx="2064470" cy="2749758"/>
          </a:xfrm>
          <a:prstGeom prst="rect">
            <a:avLst/>
          </a:prstGeom>
        </p:spPr>
      </p:pic>
      <p:pic>
        <p:nvPicPr>
          <p:cNvPr id="19" name="Image 18">
            <a:extLst>
              <a:ext uri="{FF2B5EF4-FFF2-40B4-BE49-F238E27FC236}">
                <a16:creationId xmlns:a16="http://schemas.microsoft.com/office/drawing/2014/main" id="{DFCF911C-3A67-903B-82B6-0F16D8B6D715}"/>
              </a:ext>
            </a:extLst>
          </p:cNvPr>
          <p:cNvPicPr>
            <a:picLocks noChangeAspect="1"/>
          </p:cNvPicPr>
          <p:nvPr/>
        </p:nvPicPr>
        <p:blipFill>
          <a:blip r:embed="rId9"/>
          <a:stretch>
            <a:fillRect/>
          </a:stretch>
        </p:blipFill>
        <p:spPr>
          <a:xfrm>
            <a:off x="9313683" y="4108239"/>
            <a:ext cx="2878318" cy="2660206"/>
          </a:xfrm>
          <a:prstGeom prst="rect">
            <a:avLst/>
          </a:prstGeom>
        </p:spPr>
      </p:pic>
    </p:spTree>
    <p:extLst>
      <p:ext uri="{BB962C8B-B14F-4D97-AF65-F5344CB8AC3E}">
        <p14:creationId xmlns:p14="http://schemas.microsoft.com/office/powerpoint/2010/main" val="29611349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5F76D454-F54E-0BB7-AE5C-0B6BC7564F19}"/>
              </a:ext>
            </a:extLst>
          </p:cNvPr>
          <p:cNvSpPr txBox="1"/>
          <p:nvPr/>
        </p:nvSpPr>
        <p:spPr>
          <a:xfrm>
            <a:off x="4147794" y="0"/>
            <a:ext cx="3355942" cy="369332"/>
          </a:xfrm>
          <a:prstGeom prst="rect">
            <a:avLst/>
          </a:prstGeom>
          <a:noFill/>
        </p:spPr>
        <p:txBody>
          <a:bodyPr wrap="square" rtlCol="0">
            <a:spAutoFit/>
          </a:bodyPr>
          <a:lstStyle/>
          <a:p>
            <a:pPr algn="ctr"/>
            <a:r>
              <a:rPr lang="fr-FR" u="sng" dirty="0">
                <a:latin typeface="Times New Roman" panose="02020603050405020304" pitchFamily="18" charset="0"/>
                <a:cs typeface="Times New Roman" panose="02020603050405020304" pitchFamily="18" charset="0"/>
              </a:rPr>
              <a:t>3- Extrait Sondage:</a:t>
            </a:r>
          </a:p>
        </p:txBody>
      </p:sp>
      <p:pic>
        <p:nvPicPr>
          <p:cNvPr id="6" name="Image 5">
            <a:extLst>
              <a:ext uri="{FF2B5EF4-FFF2-40B4-BE49-F238E27FC236}">
                <a16:creationId xmlns:a16="http://schemas.microsoft.com/office/drawing/2014/main" id="{50D1787E-550E-074E-7EAE-033C167646C0}"/>
              </a:ext>
            </a:extLst>
          </p:cNvPr>
          <p:cNvPicPr>
            <a:picLocks noChangeAspect="1"/>
          </p:cNvPicPr>
          <p:nvPr/>
        </p:nvPicPr>
        <p:blipFill>
          <a:blip r:embed="rId2"/>
          <a:stretch>
            <a:fillRect/>
          </a:stretch>
        </p:blipFill>
        <p:spPr>
          <a:xfrm>
            <a:off x="0" y="369332"/>
            <a:ext cx="4713402" cy="3693621"/>
          </a:xfrm>
          <a:prstGeom prst="rect">
            <a:avLst/>
          </a:prstGeom>
        </p:spPr>
      </p:pic>
      <p:pic>
        <p:nvPicPr>
          <p:cNvPr id="8" name="Image 7">
            <a:extLst>
              <a:ext uri="{FF2B5EF4-FFF2-40B4-BE49-F238E27FC236}">
                <a16:creationId xmlns:a16="http://schemas.microsoft.com/office/drawing/2014/main" id="{9D6AD045-1AF5-C7DF-3868-142BFC2BCC92}"/>
              </a:ext>
            </a:extLst>
          </p:cNvPr>
          <p:cNvPicPr>
            <a:picLocks noChangeAspect="1"/>
          </p:cNvPicPr>
          <p:nvPr/>
        </p:nvPicPr>
        <p:blipFill>
          <a:blip r:embed="rId3"/>
          <a:stretch>
            <a:fillRect/>
          </a:stretch>
        </p:blipFill>
        <p:spPr>
          <a:xfrm>
            <a:off x="4713402" y="738664"/>
            <a:ext cx="2790334" cy="3324289"/>
          </a:xfrm>
          <a:prstGeom prst="rect">
            <a:avLst/>
          </a:prstGeom>
        </p:spPr>
      </p:pic>
      <p:pic>
        <p:nvPicPr>
          <p:cNvPr id="10" name="Image 9">
            <a:extLst>
              <a:ext uri="{FF2B5EF4-FFF2-40B4-BE49-F238E27FC236}">
                <a16:creationId xmlns:a16="http://schemas.microsoft.com/office/drawing/2014/main" id="{C7C4D44F-B065-273A-49E3-CF0AC346B0F4}"/>
              </a:ext>
            </a:extLst>
          </p:cNvPr>
          <p:cNvPicPr>
            <a:picLocks noChangeAspect="1"/>
          </p:cNvPicPr>
          <p:nvPr/>
        </p:nvPicPr>
        <p:blipFill>
          <a:blip r:embed="rId4"/>
          <a:stretch>
            <a:fillRect/>
          </a:stretch>
        </p:blipFill>
        <p:spPr>
          <a:xfrm>
            <a:off x="7503736" y="738664"/>
            <a:ext cx="2554664" cy="3219917"/>
          </a:xfrm>
          <a:prstGeom prst="rect">
            <a:avLst/>
          </a:prstGeom>
        </p:spPr>
      </p:pic>
      <p:pic>
        <p:nvPicPr>
          <p:cNvPr id="12" name="Image 11">
            <a:extLst>
              <a:ext uri="{FF2B5EF4-FFF2-40B4-BE49-F238E27FC236}">
                <a16:creationId xmlns:a16="http://schemas.microsoft.com/office/drawing/2014/main" id="{1FBAD298-DC3A-56C8-4B69-391EA2D7A358}"/>
              </a:ext>
            </a:extLst>
          </p:cNvPr>
          <p:cNvPicPr>
            <a:picLocks noChangeAspect="1"/>
          </p:cNvPicPr>
          <p:nvPr/>
        </p:nvPicPr>
        <p:blipFill>
          <a:blip r:embed="rId5"/>
          <a:stretch>
            <a:fillRect/>
          </a:stretch>
        </p:blipFill>
        <p:spPr>
          <a:xfrm>
            <a:off x="10058400" y="738664"/>
            <a:ext cx="2133600" cy="3041146"/>
          </a:xfrm>
          <a:prstGeom prst="rect">
            <a:avLst/>
          </a:prstGeom>
        </p:spPr>
      </p:pic>
      <p:pic>
        <p:nvPicPr>
          <p:cNvPr id="14" name="Image 13">
            <a:extLst>
              <a:ext uri="{FF2B5EF4-FFF2-40B4-BE49-F238E27FC236}">
                <a16:creationId xmlns:a16="http://schemas.microsoft.com/office/drawing/2014/main" id="{0AD40170-5207-79E8-04AC-FAC21E654992}"/>
              </a:ext>
            </a:extLst>
          </p:cNvPr>
          <p:cNvPicPr>
            <a:picLocks noChangeAspect="1"/>
          </p:cNvPicPr>
          <p:nvPr/>
        </p:nvPicPr>
        <p:blipFill>
          <a:blip r:embed="rId6"/>
          <a:stretch>
            <a:fillRect/>
          </a:stretch>
        </p:blipFill>
        <p:spPr>
          <a:xfrm>
            <a:off x="0" y="4062954"/>
            <a:ext cx="7692271" cy="2795046"/>
          </a:xfrm>
          <a:prstGeom prst="rect">
            <a:avLst/>
          </a:prstGeom>
        </p:spPr>
      </p:pic>
    </p:spTree>
    <p:extLst>
      <p:ext uri="{BB962C8B-B14F-4D97-AF65-F5344CB8AC3E}">
        <p14:creationId xmlns:p14="http://schemas.microsoft.com/office/powerpoint/2010/main" val="2173495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0294D18B-5C0B-3629-3DE2-62DA9A5CD5F6}"/>
              </a:ext>
            </a:extLst>
          </p:cNvPr>
          <p:cNvSpPr txBox="1"/>
          <p:nvPr/>
        </p:nvSpPr>
        <p:spPr>
          <a:xfrm>
            <a:off x="1253765" y="197963"/>
            <a:ext cx="10369484" cy="1754326"/>
          </a:xfrm>
          <a:prstGeom prst="rect">
            <a:avLst/>
          </a:prstGeom>
          <a:noFill/>
        </p:spPr>
        <p:txBody>
          <a:bodyPr wrap="square" rtlCol="0">
            <a:spAutoFit/>
          </a:bodyPr>
          <a:lstStyle/>
          <a:p>
            <a:pPr algn="ctr"/>
            <a:r>
              <a:rPr lang="fr-FR" u="sng" dirty="0">
                <a:latin typeface="Times New Roman" panose="02020603050405020304" pitchFamily="18" charset="0"/>
                <a:cs typeface="Times New Roman" panose="02020603050405020304" pitchFamily="18" charset="0"/>
              </a:rPr>
              <a:t>Conclusion :</a:t>
            </a:r>
          </a:p>
          <a:p>
            <a:pPr algn="ctr"/>
            <a:r>
              <a:rPr lang="fr-FR" dirty="0">
                <a:latin typeface="Times New Roman" panose="02020603050405020304" pitchFamily="18" charset="0"/>
                <a:cs typeface="Times New Roman" panose="02020603050405020304" pitchFamily="18" charset="0"/>
              </a:rPr>
              <a:t>Après observations nous constatons que les colonnes qui nous permettront de faire la jointure sont : id_employee, eval_number, code_sondage .</a:t>
            </a:r>
          </a:p>
          <a:p>
            <a:pPr algn="ctr"/>
            <a:r>
              <a:rPr lang="fr-FR" dirty="0">
                <a:latin typeface="Times New Roman" panose="02020603050405020304" pitchFamily="18" charset="0"/>
                <a:cs typeface="Times New Roman" panose="02020603050405020304" pitchFamily="18" charset="0"/>
              </a:rPr>
              <a:t>Mais pour effectuer une jointure nous devons avoir une colonne identique donc pour ça nous allons effectuer un rename sur les deux colonnes pour leur ramener à id_employee</a:t>
            </a:r>
          </a:p>
          <a:p>
            <a:endParaRPr lang="fr-FR" dirty="0"/>
          </a:p>
        </p:txBody>
      </p:sp>
      <p:pic>
        <p:nvPicPr>
          <p:cNvPr id="4" name="Image 3">
            <a:extLst>
              <a:ext uri="{FF2B5EF4-FFF2-40B4-BE49-F238E27FC236}">
                <a16:creationId xmlns:a16="http://schemas.microsoft.com/office/drawing/2014/main" id="{2377374A-1308-C245-C4B9-3EDA8D5A0B23}"/>
              </a:ext>
            </a:extLst>
          </p:cNvPr>
          <p:cNvPicPr>
            <a:picLocks noChangeAspect="1"/>
          </p:cNvPicPr>
          <p:nvPr/>
        </p:nvPicPr>
        <p:blipFill>
          <a:blip r:embed="rId2"/>
          <a:stretch>
            <a:fillRect/>
          </a:stretch>
        </p:blipFill>
        <p:spPr>
          <a:xfrm>
            <a:off x="0" y="1583704"/>
            <a:ext cx="3648173" cy="2658358"/>
          </a:xfrm>
          <a:prstGeom prst="rect">
            <a:avLst/>
          </a:prstGeom>
        </p:spPr>
      </p:pic>
      <p:pic>
        <p:nvPicPr>
          <p:cNvPr id="6" name="Image 5">
            <a:extLst>
              <a:ext uri="{FF2B5EF4-FFF2-40B4-BE49-F238E27FC236}">
                <a16:creationId xmlns:a16="http://schemas.microsoft.com/office/drawing/2014/main" id="{63723F4E-DA75-8014-76A8-88A0EFCFE534}"/>
              </a:ext>
            </a:extLst>
          </p:cNvPr>
          <p:cNvPicPr>
            <a:picLocks noChangeAspect="1"/>
          </p:cNvPicPr>
          <p:nvPr/>
        </p:nvPicPr>
        <p:blipFill>
          <a:blip r:embed="rId3"/>
          <a:stretch>
            <a:fillRect/>
          </a:stretch>
        </p:blipFill>
        <p:spPr>
          <a:xfrm>
            <a:off x="3648173" y="1583704"/>
            <a:ext cx="4703975" cy="3195686"/>
          </a:xfrm>
          <a:prstGeom prst="rect">
            <a:avLst/>
          </a:prstGeom>
        </p:spPr>
      </p:pic>
      <p:pic>
        <p:nvPicPr>
          <p:cNvPr id="8" name="Image 7">
            <a:extLst>
              <a:ext uri="{FF2B5EF4-FFF2-40B4-BE49-F238E27FC236}">
                <a16:creationId xmlns:a16="http://schemas.microsoft.com/office/drawing/2014/main" id="{2DC51E6F-FEB4-6040-FCC6-04BDB5AAEB33}"/>
              </a:ext>
            </a:extLst>
          </p:cNvPr>
          <p:cNvPicPr>
            <a:picLocks noChangeAspect="1"/>
          </p:cNvPicPr>
          <p:nvPr/>
        </p:nvPicPr>
        <p:blipFill>
          <a:blip r:embed="rId4"/>
          <a:stretch>
            <a:fillRect/>
          </a:stretch>
        </p:blipFill>
        <p:spPr>
          <a:xfrm>
            <a:off x="0" y="4905712"/>
            <a:ext cx="12191999" cy="1952288"/>
          </a:xfrm>
          <a:prstGeom prst="rect">
            <a:avLst/>
          </a:prstGeom>
        </p:spPr>
      </p:pic>
      <p:sp>
        <p:nvSpPr>
          <p:cNvPr id="10" name="ZoneTexte 9">
            <a:extLst>
              <a:ext uri="{FF2B5EF4-FFF2-40B4-BE49-F238E27FC236}">
                <a16:creationId xmlns:a16="http://schemas.microsoft.com/office/drawing/2014/main" id="{5BFA6B18-9162-83E6-08AA-6A364F1CCD6D}"/>
              </a:ext>
            </a:extLst>
          </p:cNvPr>
          <p:cNvSpPr txBox="1"/>
          <p:nvPr/>
        </p:nvSpPr>
        <p:spPr>
          <a:xfrm>
            <a:off x="8880049" y="2130458"/>
            <a:ext cx="3223967" cy="2308324"/>
          </a:xfrm>
          <a:prstGeom prst="rect">
            <a:avLst/>
          </a:prstGeom>
          <a:noFill/>
        </p:spPr>
        <p:txBody>
          <a:bodyPr wrap="square" rtlCol="0">
            <a:spAutoFit/>
          </a:bodyPr>
          <a:lstStyle/>
          <a:p>
            <a:r>
              <a:rPr lang="fr-FR" dirty="0"/>
              <a:t>Eval.csv =</a:t>
            </a:r>
            <a:r>
              <a:rPr lang="en-US" dirty="0"/>
              <a:t>&gt;</a:t>
            </a:r>
            <a:r>
              <a:rPr lang="fr-FR" dirty="0"/>
              <a:t> 1470,10</a:t>
            </a:r>
          </a:p>
          <a:p>
            <a:r>
              <a:rPr lang="fr-FR" dirty="0"/>
              <a:t>Sirh.csv =</a:t>
            </a:r>
            <a:r>
              <a:rPr lang="en-US" dirty="0"/>
              <a:t>&gt;</a:t>
            </a:r>
            <a:r>
              <a:rPr lang="fr-FR" dirty="0"/>
              <a:t> 1470,12</a:t>
            </a:r>
          </a:p>
          <a:p>
            <a:r>
              <a:rPr lang="fr-FR" dirty="0"/>
              <a:t>Sond.csv =</a:t>
            </a:r>
            <a:r>
              <a:rPr lang="en-US" dirty="0"/>
              <a:t>&gt; </a:t>
            </a:r>
            <a:r>
              <a:rPr lang="fr-FR" dirty="0"/>
              <a:t>1470,12</a:t>
            </a:r>
          </a:p>
          <a:p>
            <a:r>
              <a:rPr lang="fr-FR" dirty="0"/>
              <a:t>Donc après jointure nous aurons:</a:t>
            </a:r>
          </a:p>
          <a:p>
            <a:r>
              <a:rPr lang="fr-FR" dirty="0"/>
              <a:t>(1470,34) mais on a effectué la jointure sur id_employee de </a:t>
            </a:r>
            <a:r>
              <a:rPr lang="fr-FR" dirty="0" err="1"/>
              <a:t>sirh</a:t>
            </a:r>
            <a:endParaRPr lang="fr-FR" dirty="0"/>
          </a:p>
          <a:p>
            <a:r>
              <a:rPr lang="fr-FR" dirty="0"/>
              <a:t>Donc ça deviendra (1470,32) </a:t>
            </a:r>
          </a:p>
        </p:txBody>
      </p:sp>
    </p:spTree>
    <p:extLst>
      <p:ext uri="{BB962C8B-B14F-4D97-AF65-F5344CB8AC3E}">
        <p14:creationId xmlns:p14="http://schemas.microsoft.com/office/powerpoint/2010/main" val="37184044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EF7E7380-1CD4-1D94-0136-5F000C844680}"/>
              </a:ext>
            </a:extLst>
          </p:cNvPr>
          <p:cNvSpPr txBox="1"/>
          <p:nvPr/>
        </p:nvSpPr>
        <p:spPr>
          <a:xfrm>
            <a:off x="4496586" y="113122"/>
            <a:ext cx="4176074" cy="584775"/>
          </a:xfrm>
          <a:prstGeom prst="rect">
            <a:avLst/>
          </a:prstGeom>
          <a:noFill/>
        </p:spPr>
        <p:txBody>
          <a:bodyPr wrap="square" rtlCol="0">
            <a:spAutoFit/>
          </a:bodyPr>
          <a:lstStyle/>
          <a:p>
            <a:pPr algn="ctr"/>
            <a:r>
              <a:rPr lang="fr-FR" sz="3200" u="sng" dirty="0">
                <a:latin typeface="Times New Roman" panose="02020603050405020304" pitchFamily="18" charset="0"/>
                <a:cs typeface="Times New Roman" panose="02020603050405020304" pitchFamily="18" charset="0"/>
              </a:rPr>
              <a:t>Modélisation:</a:t>
            </a:r>
          </a:p>
        </p:txBody>
      </p:sp>
      <p:pic>
        <p:nvPicPr>
          <p:cNvPr id="4" name="Image 3">
            <a:extLst>
              <a:ext uri="{FF2B5EF4-FFF2-40B4-BE49-F238E27FC236}">
                <a16:creationId xmlns:a16="http://schemas.microsoft.com/office/drawing/2014/main" id="{92CBDC49-50DA-D534-DF0C-FE5FD640FAFF}"/>
              </a:ext>
            </a:extLst>
          </p:cNvPr>
          <p:cNvPicPr>
            <a:picLocks noChangeAspect="1"/>
          </p:cNvPicPr>
          <p:nvPr/>
        </p:nvPicPr>
        <p:blipFill>
          <a:blip r:embed="rId2"/>
          <a:stretch>
            <a:fillRect/>
          </a:stretch>
        </p:blipFill>
        <p:spPr>
          <a:xfrm>
            <a:off x="135426" y="697898"/>
            <a:ext cx="5473522" cy="3652572"/>
          </a:xfrm>
          <a:prstGeom prst="rect">
            <a:avLst/>
          </a:prstGeom>
        </p:spPr>
      </p:pic>
      <p:pic>
        <p:nvPicPr>
          <p:cNvPr id="6" name="Image 5">
            <a:extLst>
              <a:ext uri="{FF2B5EF4-FFF2-40B4-BE49-F238E27FC236}">
                <a16:creationId xmlns:a16="http://schemas.microsoft.com/office/drawing/2014/main" id="{2527A030-3C48-71B7-E689-5803E5AED17A}"/>
              </a:ext>
            </a:extLst>
          </p:cNvPr>
          <p:cNvPicPr>
            <a:picLocks noChangeAspect="1"/>
          </p:cNvPicPr>
          <p:nvPr/>
        </p:nvPicPr>
        <p:blipFill>
          <a:blip r:embed="rId3"/>
          <a:stretch>
            <a:fillRect/>
          </a:stretch>
        </p:blipFill>
        <p:spPr>
          <a:xfrm>
            <a:off x="5608948" y="697897"/>
            <a:ext cx="6583051" cy="6160103"/>
          </a:xfrm>
          <a:prstGeom prst="rect">
            <a:avLst/>
          </a:prstGeom>
        </p:spPr>
      </p:pic>
      <p:sp>
        <p:nvSpPr>
          <p:cNvPr id="7" name="ZoneTexte 6">
            <a:extLst>
              <a:ext uri="{FF2B5EF4-FFF2-40B4-BE49-F238E27FC236}">
                <a16:creationId xmlns:a16="http://schemas.microsoft.com/office/drawing/2014/main" id="{B6772F6C-9BA8-9B82-F316-E5EA547D42D3}"/>
              </a:ext>
            </a:extLst>
          </p:cNvPr>
          <p:cNvSpPr txBox="1"/>
          <p:nvPr/>
        </p:nvSpPr>
        <p:spPr>
          <a:xfrm>
            <a:off x="135426" y="4760536"/>
            <a:ext cx="5105877" cy="1569660"/>
          </a:xfrm>
          <a:prstGeom prst="rect">
            <a:avLst/>
          </a:prstGeom>
          <a:noFill/>
        </p:spPr>
        <p:txBody>
          <a:bodyPr wrap="square" rtlCol="0">
            <a:spAutoFit/>
          </a:bodyPr>
          <a:lstStyle/>
          <a:p>
            <a:pPr algn="ctr"/>
            <a:r>
              <a:rPr lang="fr-FR" sz="2400" u="sng" dirty="0">
                <a:latin typeface="Times New Roman" panose="02020603050405020304" pitchFamily="18" charset="0"/>
                <a:cs typeface="Times New Roman" panose="02020603050405020304" pitchFamily="18" charset="0"/>
              </a:rPr>
              <a:t>Modèle:</a:t>
            </a:r>
          </a:p>
          <a:p>
            <a:pPr algn="ctr"/>
            <a:r>
              <a:rPr lang="fr-FR" sz="2400" dirty="0">
                <a:latin typeface="Times New Roman" panose="02020603050405020304" pitchFamily="18" charset="0"/>
                <a:cs typeface="Times New Roman" panose="02020603050405020304" pitchFamily="18" charset="0"/>
              </a:rPr>
              <a:t>DummyClassfier</a:t>
            </a:r>
          </a:p>
          <a:p>
            <a:pPr algn="ctr"/>
            <a:r>
              <a:rPr lang="fr-FR" sz="2400" dirty="0">
                <a:latin typeface="Times New Roman" panose="02020603050405020304" pitchFamily="18" charset="0"/>
                <a:cs typeface="Times New Roman" panose="02020603050405020304" pitchFamily="18" charset="0"/>
              </a:rPr>
              <a:t>LogisticRegression</a:t>
            </a:r>
          </a:p>
          <a:p>
            <a:pPr algn="ctr"/>
            <a:r>
              <a:rPr lang="fr-FR" sz="2400" dirty="0">
                <a:latin typeface="Times New Roman" panose="02020603050405020304" pitchFamily="18" charset="0"/>
                <a:cs typeface="Times New Roman" panose="02020603050405020304" pitchFamily="18" charset="0"/>
              </a:rPr>
              <a:t>RandomForestClassifier</a:t>
            </a:r>
            <a:r>
              <a:rPr lang="fr-FR" sz="2400" u="sng"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8471737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3C1A2137-B93B-F249-A9B1-22E9580649DA}"/>
              </a:ext>
            </a:extLst>
          </p:cNvPr>
          <p:cNvPicPr>
            <a:picLocks noChangeAspect="1"/>
          </p:cNvPicPr>
          <p:nvPr/>
        </p:nvPicPr>
        <p:blipFill>
          <a:blip r:embed="rId2"/>
          <a:stretch>
            <a:fillRect/>
          </a:stretch>
        </p:blipFill>
        <p:spPr>
          <a:xfrm>
            <a:off x="0" y="480767"/>
            <a:ext cx="3299381" cy="1697965"/>
          </a:xfrm>
          <a:prstGeom prst="rect">
            <a:avLst/>
          </a:prstGeom>
        </p:spPr>
      </p:pic>
      <p:sp>
        <p:nvSpPr>
          <p:cNvPr id="4" name="ZoneTexte 3">
            <a:extLst>
              <a:ext uri="{FF2B5EF4-FFF2-40B4-BE49-F238E27FC236}">
                <a16:creationId xmlns:a16="http://schemas.microsoft.com/office/drawing/2014/main" id="{E800E442-68C9-5014-655B-CE73C6B16EB0}"/>
              </a:ext>
            </a:extLst>
          </p:cNvPr>
          <p:cNvSpPr txBox="1"/>
          <p:nvPr/>
        </p:nvSpPr>
        <p:spPr>
          <a:xfrm>
            <a:off x="4666268" y="0"/>
            <a:ext cx="3120272" cy="377072"/>
          </a:xfrm>
          <a:prstGeom prst="rect">
            <a:avLst/>
          </a:prstGeom>
          <a:noFill/>
        </p:spPr>
        <p:txBody>
          <a:bodyPr wrap="square" rtlCol="0">
            <a:spAutoFit/>
          </a:bodyPr>
          <a:lstStyle/>
          <a:p>
            <a:pPr algn="ctr"/>
            <a:r>
              <a:rPr lang="fr-FR" u="sng" dirty="0">
                <a:latin typeface="Times New Roman" panose="02020603050405020304" pitchFamily="18" charset="0"/>
                <a:cs typeface="Times New Roman" panose="02020603050405020304" pitchFamily="18" charset="0"/>
              </a:rPr>
              <a:t>1- DummyClassifier</a:t>
            </a:r>
          </a:p>
        </p:txBody>
      </p:sp>
      <p:pic>
        <p:nvPicPr>
          <p:cNvPr id="6" name="Image 5">
            <a:extLst>
              <a:ext uri="{FF2B5EF4-FFF2-40B4-BE49-F238E27FC236}">
                <a16:creationId xmlns:a16="http://schemas.microsoft.com/office/drawing/2014/main" id="{000D5321-5853-088B-E997-0980D1D7EB05}"/>
              </a:ext>
            </a:extLst>
          </p:cNvPr>
          <p:cNvPicPr>
            <a:picLocks noChangeAspect="1"/>
          </p:cNvPicPr>
          <p:nvPr/>
        </p:nvPicPr>
        <p:blipFill>
          <a:blip r:embed="rId3"/>
          <a:stretch>
            <a:fillRect/>
          </a:stretch>
        </p:blipFill>
        <p:spPr>
          <a:xfrm>
            <a:off x="3198431" y="480766"/>
            <a:ext cx="4286848" cy="1828801"/>
          </a:xfrm>
          <a:prstGeom prst="rect">
            <a:avLst/>
          </a:prstGeom>
        </p:spPr>
      </p:pic>
      <p:pic>
        <p:nvPicPr>
          <p:cNvPr id="8" name="Image 7">
            <a:extLst>
              <a:ext uri="{FF2B5EF4-FFF2-40B4-BE49-F238E27FC236}">
                <a16:creationId xmlns:a16="http://schemas.microsoft.com/office/drawing/2014/main" id="{18067E2F-67D0-4580-4253-861581163B2E}"/>
              </a:ext>
            </a:extLst>
          </p:cNvPr>
          <p:cNvPicPr>
            <a:picLocks noChangeAspect="1"/>
          </p:cNvPicPr>
          <p:nvPr/>
        </p:nvPicPr>
        <p:blipFill>
          <a:blip r:embed="rId4"/>
          <a:stretch>
            <a:fillRect/>
          </a:stretch>
        </p:blipFill>
        <p:spPr>
          <a:xfrm>
            <a:off x="15711" y="2178732"/>
            <a:ext cx="6745420" cy="3821044"/>
          </a:xfrm>
          <a:prstGeom prst="rect">
            <a:avLst/>
          </a:prstGeom>
        </p:spPr>
      </p:pic>
      <p:pic>
        <p:nvPicPr>
          <p:cNvPr id="10" name="Image 9">
            <a:extLst>
              <a:ext uri="{FF2B5EF4-FFF2-40B4-BE49-F238E27FC236}">
                <a16:creationId xmlns:a16="http://schemas.microsoft.com/office/drawing/2014/main" id="{A6B731E0-8FB5-A816-5EB6-638F1221A164}"/>
              </a:ext>
            </a:extLst>
          </p:cNvPr>
          <p:cNvPicPr>
            <a:picLocks noChangeAspect="1"/>
          </p:cNvPicPr>
          <p:nvPr/>
        </p:nvPicPr>
        <p:blipFill>
          <a:blip r:embed="rId5"/>
          <a:stretch>
            <a:fillRect/>
          </a:stretch>
        </p:blipFill>
        <p:spPr>
          <a:xfrm>
            <a:off x="-3143" y="6114946"/>
            <a:ext cx="10640910" cy="743054"/>
          </a:xfrm>
          <a:prstGeom prst="rect">
            <a:avLst/>
          </a:prstGeom>
        </p:spPr>
      </p:pic>
    </p:spTree>
    <p:extLst>
      <p:ext uri="{BB962C8B-B14F-4D97-AF65-F5344CB8AC3E}">
        <p14:creationId xmlns:p14="http://schemas.microsoft.com/office/powerpoint/2010/main" val="23378090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68384EC9-45B6-B354-6351-EB8FAFF57A16}"/>
              </a:ext>
            </a:extLst>
          </p:cNvPr>
          <p:cNvPicPr>
            <a:picLocks noChangeAspect="1"/>
          </p:cNvPicPr>
          <p:nvPr/>
        </p:nvPicPr>
        <p:blipFill>
          <a:blip r:embed="rId2"/>
          <a:stretch>
            <a:fillRect/>
          </a:stretch>
        </p:blipFill>
        <p:spPr>
          <a:xfrm>
            <a:off x="57640" y="997766"/>
            <a:ext cx="4563112" cy="1714739"/>
          </a:xfrm>
          <a:prstGeom prst="rect">
            <a:avLst/>
          </a:prstGeom>
        </p:spPr>
      </p:pic>
      <p:pic>
        <p:nvPicPr>
          <p:cNvPr id="5" name="Image 4">
            <a:extLst>
              <a:ext uri="{FF2B5EF4-FFF2-40B4-BE49-F238E27FC236}">
                <a16:creationId xmlns:a16="http://schemas.microsoft.com/office/drawing/2014/main" id="{BC65AF22-489A-18EF-5DA5-EEBD0B21373E}"/>
              </a:ext>
            </a:extLst>
          </p:cNvPr>
          <p:cNvPicPr>
            <a:picLocks noChangeAspect="1"/>
          </p:cNvPicPr>
          <p:nvPr/>
        </p:nvPicPr>
        <p:blipFill>
          <a:blip r:embed="rId3"/>
          <a:stretch>
            <a:fillRect/>
          </a:stretch>
        </p:blipFill>
        <p:spPr>
          <a:xfrm>
            <a:off x="4620752" y="997766"/>
            <a:ext cx="5032295" cy="1714739"/>
          </a:xfrm>
          <a:prstGeom prst="rect">
            <a:avLst/>
          </a:prstGeom>
        </p:spPr>
      </p:pic>
      <p:pic>
        <p:nvPicPr>
          <p:cNvPr id="7" name="Image 6">
            <a:extLst>
              <a:ext uri="{FF2B5EF4-FFF2-40B4-BE49-F238E27FC236}">
                <a16:creationId xmlns:a16="http://schemas.microsoft.com/office/drawing/2014/main" id="{28743D7B-D081-C960-F1A3-CAD22B0F0311}"/>
              </a:ext>
            </a:extLst>
          </p:cNvPr>
          <p:cNvPicPr>
            <a:picLocks noChangeAspect="1"/>
          </p:cNvPicPr>
          <p:nvPr/>
        </p:nvPicPr>
        <p:blipFill>
          <a:blip r:embed="rId4"/>
          <a:stretch>
            <a:fillRect/>
          </a:stretch>
        </p:blipFill>
        <p:spPr>
          <a:xfrm>
            <a:off x="0" y="2801753"/>
            <a:ext cx="8578392" cy="3834717"/>
          </a:xfrm>
          <a:prstGeom prst="rect">
            <a:avLst/>
          </a:prstGeom>
        </p:spPr>
      </p:pic>
      <p:sp>
        <p:nvSpPr>
          <p:cNvPr id="8" name="ZoneTexte 7">
            <a:extLst>
              <a:ext uri="{FF2B5EF4-FFF2-40B4-BE49-F238E27FC236}">
                <a16:creationId xmlns:a16="http://schemas.microsoft.com/office/drawing/2014/main" id="{6253D0DF-E082-869B-E7C2-F7D8452DCAD8}"/>
              </a:ext>
            </a:extLst>
          </p:cNvPr>
          <p:cNvSpPr txBox="1"/>
          <p:nvPr/>
        </p:nvSpPr>
        <p:spPr>
          <a:xfrm>
            <a:off x="4336330" y="0"/>
            <a:ext cx="3770722" cy="369332"/>
          </a:xfrm>
          <a:prstGeom prst="rect">
            <a:avLst/>
          </a:prstGeom>
          <a:noFill/>
        </p:spPr>
        <p:txBody>
          <a:bodyPr wrap="square" rtlCol="0">
            <a:spAutoFit/>
          </a:bodyPr>
          <a:lstStyle/>
          <a:p>
            <a:pPr algn="ctr"/>
            <a:r>
              <a:rPr lang="fr-FR" u="sng" dirty="0">
                <a:latin typeface="Times New Roman" panose="02020603050405020304" pitchFamily="18" charset="0"/>
                <a:cs typeface="Times New Roman" panose="02020603050405020304" pitchFamily="18" charset="0"/>
              </a:rPr>
              <a:t>2- LogisticRegression</a:t>
            </a:r>
          </a:p>
        </p:txBody>
      </p:sp>
    </p:spTree>
    <p:extLst>
      <p:ext uri="{BB962C8B-B14F-4D97-AF65-F5344CB8AC3E}">
        <p14:creationId xmlns:p14="http://schemas.microsoft.com/office/powerpoint/2010/main" val="16286963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C4CDA87D-6FCA-77C1-3515-5D9B69BA6073}"/>
              </a:ext>
            </a:extLst>
          </p:cNvPr>
          <p:cNvPicPr>
            <a:picLocks noChangeAspect="1"/>
          </p:cNvPicPr>
          <p:nvPr/>
        </p:nvPicPr>
        <p:blipFill>
          <a:blip r:embed="rId2"/>
          <a:stretch>
            <a:fillRect/>
          </a:stretch>
        </p:blipFill>
        <p:spPr>
          <a:xfrm>
            <a:off x="0" y="608850"/>
            <a:ext cx="5194169" cy="1679507"/>
          </a:xfrm>
          <a:prstGeom prst="rect">
            <a:avLst/>
          </a:prstGeom>
        </p:spPr>
      </p:pic>
      <p:pic>
        <p:nvPicPr>
          <p:cNvPr id="5" name="Image 4">
            <a:extLst>
              <a:ext uri="{FF2B5EF4-FFF2-40B4-BE49-F238E27FC236}">
                <a16:creationId xmlns:a16="http://schemas.microsoft.com/office/drawing/2014/main" id="{DF0A7027-8652-9514-38A2-1233680744C6}"/>
              </a:ext>
            </a:extLst>
          </p:cNvPr>
          <p:cNvPicPr>
            <a:picLocks noChangeAspect="1"/>
          </p:cNvPicPr>
          <p:nvPr/>
        </p:nvPicPr>
        <p:blipFill>
          <a:blip r:embed="rId3"/>
          <a:stretch>
            <a:fillRect/>
          </a:stretch>
        </p:blipFill>
        <p:spPr>
          <a:xfrm>
            <a:off x="5194169" y="608850"/>
            <a:ext cx="6165130" cy="1695687"/>
          </a:xfrm>
          <a:prstGeom prst="rect">
            <a:avLst/>
          </a:prstGeom>
        </p:spPr>
      </p:pic>
      <p:pic>
        <p:nvPicPr>
          <p:cNvPr id="7" name="Image 6">
            <a:extLst>
              <a:ext uri="{FF2B5EF4-FFF2-40B4-BE49-F238E27FC236}">
                <a16:creationId xmlns:a16="http://schemas.microsoft.com/office/drawing/2014/main" id="{ACAD2208-1A9E-00D8-F3C4-170684AE0645}"/>
              </a:ext>
            </a:extLst>
          </p:cNvPr>
          <p:cNvPicPr>
            <a:picLocks noChangeAspect="1"/>
          </p:cNvPicPr>
          <p:nvPr/>
        </p:nvPicPr>
        <p:blipFill>
          <a:blip r:embed="rId4"/>
          <a:stretch>
            <a:fillRect/>
          </a:stretch>
        </p:blipFill>
        <p:spPr>
          <a:xfrm>
            <a:off x="0" y="2304537"/>
            <a:ext cx="12192000" cy="4553463"/>
          </a:xfrm>
          <a:prstGeom prst="rect">
            <a:avLst/>
          </a:prstGeom>
        </p:spPr>
      </p:pic>
      <p:sp>
        <p:nvSpPr>
          <p:cNvPr id="8" name="ZoneTexte 7">
            <a:extLst>
              <a:ext uri="{FF2B5EF4-FFF2-40B4-BE49-F238E27FC236}">
                <a16:creationId xmlns:a16="http://schemas.microsoft.com/office/drawing/2014/main" id="{C0CD2629-48C8-988D-1578-DA7B6C271E59}"/>
              </a:ext>
            </a:extLst>
          </p:cNvPr>
          <p:cNvSpPr txBox="1"/>
          <p:nvPr/>
        </p:nvSpPr>
        <p:spPr>
          <a:xfrm>
            <a:off x="4345757" y="0"/>
            <a:ext cx="3535051" cy="369332"/>
          </a:xfrm>
          <a:prstGeom prst="rect">
            <a:avLst/>
          </a:prstGeom>
          <a:noFill/>
        </p:spPr>
        <p:txBody>
          <a:bodyPr wrap="square" rtlCol="0">
            <a:spAutoFit/>
          </a:bodyPr>
          <a:lstStyle/>
          <a:p>
            <a:pPr algn="ctr"/>
            <a:r>
              <a:rPr lang="fr-FR" u="sng" dirty="0">
                <a:latin typeface="Times New Roman" panose="02020603050405020304" pitchFamily="18" charset="0"/>
                <a:cs typeface="Times New Roman" panose="02020603050405020304" pitchFamily="18" charset="0"/>
              </a:rPr>
              <a:t>3- RandomForestClassifier</a:t>
            </a:r>
          </a:p>
        </p:txBody>
      </p:sp>
    </p:spTree>
    <p:extLst>
      <p:ext uri="{BB962C8B-B14F-4D97-AF65-F5344CB8AC3E}">
        <p14:creationId xmlns:p14="http://schemas.microsoft.com/office/powerpoint/2010/main" val="26603130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CEB68861-B310-1D96-838D-5E9560B692FD}"/>
              </a:ext>
            </a:extLst>
          </p:cNvPr>
          <p:cNvSpPr txBox="1"/>
          <p:nvPr/>
        </p:nvSpPr>
        <p:spPr>
          <a:xfrm>
            <a:off x="3657600" y="160256"/>
            <a:ext cx="4110087" cy="556181"/>
          </a:xfrm>
          <a:prstGeom prst="rect">
            <a:avLst/>
          </a:prstGeom>
          <a:noFill/>
        </p:spPr>
        <p:txBody>
          <a:bodyPr wrap="square" rtlCol="0">
            <a:spAutoFit/>
          </a:bodyPr>
          <a:lstStyle/>
          <a:p>
            <a:endParaRPr lang="fr-FR" dirty="0"/>
          </a:p>
        </p:txBody>
      </p:sp>
      <p:sp>
        <p:nvSpPr>
          <p:cNvPr id="5" name="ZoneTexte 4">
            <a:extLst>
              <a:ext uri="{FF2B5EF4-FFF2-40B4-BE49-F238E27FC236}">
                <a16:creationId xmlns:a16="http://schemas.microsoft.com/office/drawing/2014/main" id="{C29D3B6B-61B5-1530-1213-4A8A59C97A73}"/>
              </a:ext>
            </a:extLst>
          </p:cNvPr>
          <p:cNvSpPr txBox="1"/>
          <p:nvPr/>
        </p:nvSpPr>
        <p:spPr>
          <a:xfrm>
            <a:off x="3817856" y="94268"/>
            <a:ext cx="3412503" cy="830997"/>
          </a:xfrm>
          <a:prstGeom prst="rect">
            <a:avLst/>
          </a:prstGeom>
          <a:noFill/>
        </p:spPr>
        <p:txBody>
          <a:bodyPr wrap="square" rtlCol="0">
            <a:spAutoFit/>
          </a:bodyPr>
          <a:lstStyle/>
          <a:p>
            <a:pPr algn="ctr"/>
            <a:r>
              <a:rPr lang="fr-FR" sz="2400" u="sng" dirty="0">
                <a:latin typeface="Times New Roman" panose="02020603050405020304" pitchFamily="18" charset="0"/>
                <a:cs typeface="Times New Roman" panose="02020603050405020304" pitchFamily="18" charset="0"/>
              </a:rPr>
              <a:t>4 – Amélioration approche classification:</a:t>
            </a:r>
          </a:p>
        </p:txBody>
      </p:sp>
      <p:pic>
        <p:nvPicPr>
          <p:cNvPr id="7" name="Image 6">
            <a:extLst>
              <a:ext uri="{FF2B5EF4-FFF2-40B4-BE49-F238E27FC236}">
                <a16:creationId xmlns:a16="http://schemas.microsoft.com/office/drawing/2014/main" id="{E527F966-BFD4-FED4-02FA-4EBB01E5FE38}"/>
              </a:ext>
            </a:extLst>
          </p:cNvPr>
          <p:cNvPicPr>
            <a:picLocks noChangeAspect="1"/>
          </p:cNvPicPr>
          <p:nvPr/>
        </p:nvPicPr>
        <p:blipFill>
          <a:blip r:embed="rId2"/>
          <a:stretch>
            <a:fillRect/>
          </a:stretch>
        </p:blipFill>
        <p:spPr>
          <a:xfrm>
            <a:off x="0" y="991253"/>
            <a:ext cx="6825006" cy="3288516"/>
          </a:xfrm>
          <a:prstGeom prst="rect">
            <a:avLst/>
          </a:prstGeom>
        </p:spPr>
      </p:pic>
      <p:pic>
        <p:nvPicPr>
          <p:cNvPr id="9" name="Image 8">
            <a:extLst>
              <a:ext uri="{FF2B5EF4-FFF2-40B4-BE49-F238E27FC236}">
                <a16:creationId xmlns:a16="http://schemas.microsoft.com/office/drawing/2014/main" id="{52915597-F3FE-02FE-DBA7-9508DB3D3D0F}"/>
              </a:ext>
            </a:extLst>
          </p:cNvPr>
          <p:cNvPicPr>
            <a:picLocks noChangeAspect="1"/>
          </p:cNvPicPr>
          <p:nvPr/>
        </p:nvPicPr>
        <p:blipFill>
          <a:blip r:embed="rId3"/>
          <a:stretch>
            <a:fillRect/>
          </a:stretch>
        </p:blipFill>
        <p:spPr>
          <a:xfrm>
            <a:off x="7381188" y="991253"/>
            <a:ext cx="4810812" cy="3782504"/>
          </a:xfrm>
          <a:prstGeom prst="rect">
            <a:avLst/>
          </a:prstGeom>
        </p:spPr>
      </p:pic>
      <p:pic>
        <p:nvPicPr>
          <p:cNvPr id="11" name="Image 10">
            <a:extLst>
              <a:ext uri="{FF2B5EF4-FFF2-40B4-BE49-F238E27FC236}">
                <a16:creationId xmlns:a16="http://schemas.microsoft.com/office/drawing/2014/main" id="{6E98DF84-DABE-C247-EFB9-A70DC339C023}"/>
              </a:ext>
            </a:extLst>
          </p:cNvPr>
          <p:cNvPicPr>
            <a:picLocks noChangeAspect="1"/>
          </p:cNvPicPr>
          <p:nvPr/>
        </p:nvPicPr>
        <p:blipFill>
          <a:blip r:embed="rId4"/>
          <a:stretch>
            <a:fillRect/>
          </a:stretch>
        </p:blipFill>
        <p:spPr>
          <a:xfrm>
            <a:off x="0" y="4292911"/>
            <a:ext cx="6749592" cy="2565089"/>
          </a:xfrm>
          <a:prstGeom prst="rect">
            <a:avLst/>
          </a:prstGeom>
        </p:spPr>
      </p:pic>
      <p:pic>
        <p:nvPicPr>
          <p:cNvPr id="13" name="Image 12">
            <a:extLst>
              <a:ext uri="{FF2B5EF4-FFF2-40B4-BE49-F238E27FC236}">
                <a16:creationId xmlns:a16="http://schemas.microsoft.com/office/drawing/2014/main" id="{3940B787-3EAB-C00F-2B32-8E4D38EDB843}"/>
              </a:ext>
            </a:extLst>
          </p:cNvPr>
          <p:cNvPicPr>
            <a:picLocks noChangeAspect="1"/>
          </p:cNvPicPr>
          <p:nvPr/>
        </p:nvPicPr>
        <p:blipFill>
          <a:blip r:embed="rId5"/>
          <a:stretch>
            <a:fillRect/>
          </a:stretch>
        </p:blipFill>
        <p:spPr>
          <a:xfrm>
            <a:off x="4224488" y="6373152"/>
            <a:ext cx="2762636" cy="390580"/>
          </a:xfrm>
          <a:prstGeom prst="rect">
            <a:avLst/>
          </a:prstGeom>
        </p:spPr>
      </p:pic>
    </p:spTree>
    <p:extLst>
      <p:ext uri="{BB962C8B-B14F-4D97-AF65-F5344CB8AC3E}">
        <p14:creationId xmlns:p14="http://schemas.microsoft.com/office/powerpoint/2010/main" val="24868513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BF083541-9F5B-0A4A-8B36-7310EFDA5D6C}"/>
              </a:ext>
            </a:extLst>
          </p:cNvPr>
          <p:cNvPicPr>
            <a:picLocks noChangeAspect="1"/>
          </p:cNvPicPr>
          <p:nvPr/>
        </p:nvPicPr>
        <p:blipFill>
          <a:blip r:embed="rId2"/>
          <a:stretch>
            <a:fillRect/>
          </a:stretch>
        </p:blipFill>
        <p:spPr>
          <a:xfrm>
            <a:off x="0" y="1198971"/>
            <a:ext cx="4448796" cy="2819794"/>
          </a:xfrm>
          <a:prstGeom prst="rect">
            <a:avLst/>
          </a:prstGeom>
        </p:spPr>
      </p:pic>
      <p:pic>
        <p:nvPicPr>
          <p:cNvPr id="5" name="Image 4">
            <a:extLst>
              <a:ext uri="{FF2B5EF4-FFF2-40B4-BE49-F238E27FC236}">
                <a16:creationId xmlns:a16="http://schemas.microsoft.com/office/drawing/2014/main" id="{20A3447D-B9F6-5DB2-01ED-85F53A78665D}"/>
              </a:ext>
            </a:extLst>
          </p:cNvPr>
          <p:cNvPicPr>
            <a:picLocks noChangeAspect="1"/>
          </p:cNvPicPr>
          <p:nvPr/>
        </p:nvPicPr>
        <p:blipFill>
          <a:blip r:embed="rId3"/>
          <a:stretch>
            <a:fillRect/>
          </a:stretch>
        </p:blipFill>
        <p:spPr>
          <a:xfrm>
            <a:off x="4430949" y="907919"/>
            <a:ext cx="7039957" cy="3110845"/>
          </a:xfrm>
          <a:prstGeom prst="rect">
            <a:avLst/>
          </a:prstGeom>
        </p:spPr>
      </p:pic>
      <p:pic>
        <p:nvPicPr>
          <p:cNvPr id="7" name="Image 6">
            <a:extLst>
              <a:ext uri="{FF2B5EF4-FFF2-40B4-BE49-F238E27FC236}">
                <a16:creationId xmlns:a16="http://schemas.microsoft.com/office/drawing/2014/main" id="{EA2DFFCA-14A6-95F3-2A51-9698451F454C}"/>
              </a:ext>
            </a:extLst>
          </p:cNvPr>
          <p:cNvPicPr>
            <a:picLocks noChangeAspect="1"/>
          </p:cNvPicPr>
          <p:nvPr/>
        </p:nvPicPr>
        <p:blipFill>
          <a:blip r:embed="rId4"/>
          <a:stretch>
            <a:fillRect/>
          </a:stretch>
        </p:blipFill>
        <p:spPr>
          <a:xfrm>
            <a:off x="0" y="4018765"/>
            <a:ext cx="4448796" cy="2839235"/>
          </a:xfrm>
          <a:prstGeom prst="rect">
            <a:avLst/>
          </a:prstGeom>
        </p:spPr>
      </p:pic>
      <p:pic>
        <p:nvPicPr>
          <p:cNvPr id="9" name="Image 8">
            <a:extLst>
              <a:ext uri="{FF2B5EF4-FFF2-40B4-BE49-F238E27FC236}">
                <a16:creationId xmlns:a16="http://schemas.microsoft.com/office/drawing/2014/main" id="{11FD8663-A8EE-F5B0-3B42-F3AD39114841}"/>
              </a:ext>
            </a:extLst>
          </p:cNvPr>
          <p:cNvPicPr>
            <a:picLocks noChangeAspect="1"/>
          </p:cNvPicPr>
          <p:nvPr/>
        </p:nvPicPr>
        <p:blipFill>
          <a:blip r:embed="rId5"/>
          <a:stretch>
            <a:fillRect/>
          </a:stretch>
        </p:blipFill>
        <p:spPr>
          <a:xfrm>
            <a:off x="4448797" y="4238161"/>
            <a:ext cx="2743856" cy="2400442"/>
          </a:xfrm>
          <a:prstGeom prst="rect">
            <a:avLst/>
          </a:prstGeom>
        </p:spPr>
      </p:pic>
      <p:pic>
        <p:nvPicPr>
          <p:cNvPr id="11" name="Image 10">
            <a:extLst>
              <a:ext uri="{FF2B5EF4-FFF2-40B4-BE49-F238E27FC236}">
                <a16:creationId xmlns:a16="http://schemas.microsoft.com/office/drawing/2014/main" id="{C947C034-356B-D322-948B-618B60A84A5E}"/>
              </a:ext>
            </a:extLst>
          </p:cNvPr>
          <p:cNvPicPr>
            <a:picLocks noChangeAspect="1"/>
          </p:cNvPicPr>
          <p:nvPr/>
        </p:nvPicPr>
        <p:blipFill>
          <a:blip r:embed="rId6"/>
          <a:stretch>
            <a:fillRect/>
          </a:stretch>
        </p:blipFill>
        <p:spPr>
          <a:xfrm>
            <a:off x="7192653" y="4238160"/>
            <a:ext cx="4741681" cy="2514827"/>
          </a:xfrm>
          <a:prstGeom prst="rect">
            <a:avLst/>
          </a:prstGeom>
        </p:spPr>
      </p:pic>
    </p:spTree>
    <p:extLst>
      <p:ext uri="{BB962C8B-B14F-4D97-AF65-F5344CB8AC3E}">
        <p14:creationId xmlns:p14="http://schemas.microsoft.com/office/powerpoint/2010/main" val="14636787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99358F14-7B83-9FAD-F428-B1C1737058B6}"/>
              </a:ext>
            </a:extLst>
          </p:cNvPr>
          <p:cNvSpPr txBox="1"/>
          <p:nvPr/>
        </p:nvSpPr>
        <p:spPr>
          <a:xfrm>
            <a:off x="3780148" y="122548"/>
            <a:ext cx="5222450" cy="769441"/>
          </a:xfrm>
          <a:prstGeom prst="rect">
            <a:avLst/>
          </a:prstGeom>
          <a:noFill/>
        </p:spPr>
        <p:txBody>
          <a:bodyPr wrap="square" rtlCol="0">
            <a:spAutoFit/>
          </a:bodyPr>
          <a:lstStyle/>
          <a:p>
            <a:pPr algn="ctr"/>
            <a:r>
              <a:rPr lang="fr-FR" sz="4400" u="sng" dirty="0">
                <a:latin typeface="Times New Roman" panose="02020603050405020304" pitchFamily="18" charset="0"/>
                <a:cs typeface="Times New Roman" panose="02020603050405020304" pitchFamily="18" charset="0"/>
              </a:rPr>
              <a:t>Feature Engineering</a:t>
            </a:r>
          </a:p>
        </p:txBody>
      </p:sp>
      <p:sp>
        <p:nvSpPr>
          <p:cNvPr id="3" name="ZoneTexte 2">
            <a:extLst>
              <a:ext uri="{FF2B5EF4-FFF2-40B4-BE49-F238E27FC236}">
                <a16:creationId xmlns:a16="http://schemas.microsoft.com/office/drawing/2014/main" id="{0136DFFD-46EB-23A3-14EB-23A61417198C}"/>
              </a:ext>
            </a:extLst>
          </p:cNvPr>
          <p:cNvSpPr txBox="1"/>
          <p:nvPr/>
        </p:nvSpPr>
        <p:spPr>
          <a:xfrm>
            <a:off x="226243" y="1131216"/>
            <a:ext cx="11208470" cy="5324535"/>
          </a:xfrm>
          <a:prstGeom prst="rect">
            <a:avLst/>
          </a:prstGeom>
          <a:noFill/>
        </p:spPr>
        <p:txBody>
          <a:bodyPr wrap="square" rtlCol="0">
            <a:spAutoFit/>
          </a:bodyPr>
          <a:lstStyle/>
          <a:p>
            <a:r>
              <a:rPr lang="fr-FR" sz="3200" dirty="0">
                <a:latin typeface="Times New Roman" panose="02020603050405020304" pitchFamily="18" charset="0"/>
                <a:cs typeface="Times New Roman" panose="02020603050405020304" pitchFamily="18" charset="0"/>
              </a:rPr>
              <a:t>Nous allons nous intéresser sur deux(2) aspects qui seront :</a:t>
            </a:r>
          </a:p>
          <a:p>
            <a:r>
              <a:rPr lang="fr-FR" sz="3600" u="sng" dirty="0">
                <a:latin typeface="Times New Roman" panose="02020603050405020304" pitchFamily="18" charset="0"/>
                <a:cs typeface="Times New Roman" panose="02020603050405020304" pitchFamily="18" charset="0"/>
              </a:rPr>
              <a:t>Le stress lié au travail:</a:t>
            </a:r>
          </a:p>
          <a:p>
            <a:r>
              <a:rPr lang="fr-FR" sz="3200" dirty="0">
                <a:latin typeface="Times New Roman" panose="02020603050405020304" pitchFamily="18" charset="0"/>
                <a:cs typeface="Times New Roman" panose="02020603050405020304" pitchFamily="18" charset="0"/>
              </a:rPr>
              <a:t>Qui constitue la somme entre le nombre d’heures de travail et les heures supplémentaires ça nous permettra de savoir si l’employé est trop submergé par le travail</a:t>
            </a:r>
          </a:p>
          <a:p>
            <a:endParaRPr lang="fr-FR" sz="3200" dirty="0">
              <a:latin typeface="Times New Roman" panose="02020603050405020304" pitchFamily="18" charset="0"/>
              <a:cs typeface="Times New Roman" panose="02020603050405020304" pitchFamily="18" charset="0"/>
            </a:endParaRPr>
          </a:p>
          <a:p>
            <a:r>
              <a:rPr lang="fr-FR" sz="3600" u="sng" dirty="0">
                <a:latin typeface="Times New Roman" panose="02020603050405020304" pitchFamily="18" charset="0"/>
                <a:cs typeface="Times New Roman" panose="02020603050405020304" pitchFamily="18" charset="0"/>
              </a:rPr>
              <a:t>Charge de travail réel :</a:t>
            </a:r>
          </a:p>
          <a:p>
            <a:r>
              <a:rPr lang="fr-FR" sz="3600" dirty="0">
                <a:latin typeface="Times New Roman" panose="02020603050405020304" pitchFamily="18" charset="0"/>
                <a:cs typeface="Times New Roman" panose="02020603050405020304" pitchFamily="18" charset="0"/>
              </a:rPr>
              <a:t>Qui représente la multiplication entre la distance du domicile travail et la fréquence de déplacement fréquent</a:t>
            </a:r>
          </a:p>
          <a:p>
            <a:r>
              <a:rPr lang="fr-FR" sz="3600" dirty="0">
                <a:latin typeface="Times New Roman" panose="02020603050405020304" pitchFamily="18" charset="0"/>
                <a:cs typeface="Times New Roman" panose="02020603050405020304" pitchFamily="18" charset="0"/>
              </a:rPr>
              <a:t>Ça nous donnera un  avis sur le stress lié au transport  </a:t>
            </a:r>
          </a:p>
        </p:txBody>
      </p:sp>
    </p:spTree>
    <p:extLst>
      <p:ext uri="{BB962C8B-B14F-4D97-AF65-F5344CB8AC3E}">
        <p14:creationId xmlns:p14="http://schemas.microsoft.com/office/powerpoint/2010/main" val="20188937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Image 14">
            <a:extLst>
              <a:ext uri="{FF2B5EF4-FFF2-40B4-BE49-F238E27FC236}">
                <a16:creationId xmlns:a16="http://schemas.microsoft.com/office/drawing/2014/main" id="{F5716CB5-653E-0B64-7D83-BCBE00E30AA3}"/>
              </a:ext>
            </a:extLst>
          </p:cNvPr>
          <p:cNvPicPr>
            <a:picLocks noChangeAspect="1"/>
          </p:cNvPicPr>
          <p:nvPr/>
        </p:nvPicPr>
        <p:blipFill>
          <a:blip r:embed="rId2"/>
          <a:stretch>
            <a:fillRect/>
          </a:stretch>
        </p:blipFill>
        <p:spPr>
          <a:xfrm>
            <a:off x="0" y="1507462"/>
            <a:ext cx="12192000" cy="5350538"/>
          </a:xfrm>
          <a:prstGeom prst="rect">
            <a:avLst/>
          </a:prstGeom>
        </p:spPr>
      </p:pic>
      <p:sp>
        <p:nvSpPr>
          <p:cNvPr id="2" name="ZoneTexte 1">
            <a:extLst>
              <a:ext uri="{FF2B5EF4-FFF2-40B4-BE49-F238E27FC236}">
                <a16:creationId xmlns:a16="http://schemas.microsoft.com/office/drawing/2014/main" id="{3CE836A8-C8A1-B60A-CA39-D32F534D4BB3}"/>
              </a:ext>
            </a:extLst>
          </p:cNvPr>
          <p:cNvSpPr txBox="1"/>
          <p:nvPr/>
        </p:nvSpPr>
        <p:spPr>
          <a:xfrm>
            <a:off x="3742441" y="127263"/>
            <a:ext cx="5024487" cy="769441"/>
          </a:xfrm>
          <a:prstGeom prst="rect">
            <a:avLst/>
          </a:prstGeom>
          <a:noFill/>
        </p:spPr>
        <p:txBody>
          <a:bodyPr wrap="square" rtlCol="0">
            <a:spAutoFit/>
          </a:bodyPr>
          <a:lstStyle/>
          <a:p>
            <a:pPr algn="ctr"/>
            <a:r>
              <a:rPr lang="fr-FR" sz="4400" u="sng" dirty="0">
                <a:latin typeface="Times New Roman" panose="02020603050405020304" pitchFamily="18" charset="0"/>
                <a:cs typeface="Times New Roman" panose="02020603050405020304" pitchFamily="18" charset="0"/>
              </a:rPr>
              <a:t>Feature Engineering</a:t>
            </a:r>
          </a:p>
        </p:txBody>
      </p:sp>
    </p:spTree>
    <p:extLst>
      <p:ext uri="{BB962C8B-B14F-4D97-AF65-F5344CB8AC3E}">
        <p14:creationId xmlns:p14="http://schemas.microsoft.com/office/powerpoint/2010/main" val="22631978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85B270CF-3C50-7A9B-9C52-A93639E37377}"/>
              </a:ext>
            </a:extLst>
          </p:cNvPr>
          <p:cNvSpPr txBox="1"/>
          <p:nvPr/>
        </p:nvSpPr>
        <p:spPr>
          <a:xfrm>
            <a:off x="3648173" y="0"/>
            <a:ext cx="5005633" cy="923330"/>
          </a:xfrm>
          <a:prstGeom prst="rect">
            <a:avLst/>
          </a:prstGeom>
          <a:noFill/>
        </p:spPr>
        <p:txBody>
          <a:bodyPr wrap="square" rtlCol="0">
            <a:spAutoFit/>
          </a:bodyPr>
          <a:lstStyle/>
          <a:p>
            <a:pPr algn="ctr"/>
            <a:r>
              <a:rPr lang="fr-FR" u="sng" dirty="0">
                <a:latin typeface="Times New Roman" panose="02020603050405020304" pitchFamily="18" charset="0"/>
                <a:cs typeface="Times New Roman" panose="02020603050405020304" pitchFamily="18" charset="0"/>
              </a:rPr>
              <a:t>5-Optimisations et interprétations comportements modèles</a:t>
            </a:r>
          </a:p>
          <a:p>
            <a:pPr algn="ctr"/>
            <a:r>
              <a:rPr lang="fr-FR" u="sng" dirty="0">
                <a:latin typeface="Times New Roman" panose="02020603050405020304" pitchFamily="18" charset="0"/>
                <a:cs typeface="Times New Roman" panose="02020603050405020304" pitchFamily="18" charset="0"/>
              </a:rPr>
              <a:t>Cas d’utilisation de la Feature Importance</a:t>
            </a:r>
          </a:p>
        </p:txBody>
      </p:sp>
      <p:pic>
        <p:nvPicPr>
          <p:cNvPr id="4" name="Image 3">
            <a:extLst>
              <a:ext uri="{FF2B5EF4-FFF2-40B4-BE49-F238E27FC236}">
                <a16:creationId xmlns:a16="http://schemas.microsoft.com/office/drawing/2014/main" id="{AAEAE751-9821-CB6A-42B9-F2F40F8907BD}"/>
              </a:ext>
            </a:extLst>
          </p:cNvPr>
          <p:cNvPicPr>
            <a:picLocks noChangeAspect="1"/>
          </p:cNvPicPr>
          <p:nvPr/>
        </p:nvPicPr>
        <p:blipFill>
          <a:blip r:embed="rId2"/>
          <a:stretch>
            <a:fillRect/>
          </a:stretch>
        </p:blipFill>
        <p:spPr>
          <a:xfrm>
            <a:off x="0" y="1046374"/>
            <a:ext cx="5370825" cy="5698503"/>
          </a:xfrm>
          <a:prstGeom prst="rect">
            <a:avLst/>
          </a:prstGeom>
        </p:spPr>
      </p:pic>
      <p:pic>
        <p:nvPicPr>
          <p:cNvPr id="6" name="Image 5">
            <a:extLst>
              <a:ext uri="{FF2B5EF4-FFF2-40B4-BE49-F238E27FC236}">
                <a16:creationId xmlns:a16="http://schemas.microsoft.com/office/drawing/2014/main" id="{0FAC9E37-ED1C-F704-4D06-1BE846E408BF}"/>
              </a:ext>
            </a:extLst>
          </p:cNvPr>
          <p:cNvPicPr>
            <a:picLocks noChangeAspect="1"/>
          </p:cNvPicPr>
          <p:nvPr/>
        </p:nvPicPr>
        <p:blipFill>
          <a:blip r:embed="rId3"/>
          <a:stretch>
            <a:fillRect/>
          </a:stretch>
        </p:blipFill>
        <p:spPr>
          <a:xfrm>
            <a:off x="5505253" y="1046374"/>
            <a:ext cx="6151947" cy="5496341"/>
          </a:xfrm>
          <a:prstGeom prst="rect">
            <a:avLst/>
          </a:prstGeom>
        </p:spPr>
      </p:pic>
    </p:spTree>
    <p:extLst>
      <p:ext uri="{BB962C8B-B14F-4D97-AF65-F5344CB8AC3E}">
        <p14:creationId xmlns:p14="http://schemas.microsoft.com/office/powerpoint/2010/main" val="21989670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DF36DEEE-6AB7-7572-2BC7-BC07B8DDDA58}"/>
              </a:ext>
            </a:extLst>
          </p:cNvPr>
          <p:cNvSpPr txBox="1"/>
          <p:nvPr/>
        </p:nvSpPr>
        <p:spPr>
          <a:xfrm>
            <a:off x="3770722" y="103695"/>
            <a:ext cx="3610466" cy="954107"/>
          </a:xfrm>
          <a:prstGeom prst="rect">
            <a:avLst/>
          </a:prstGeom>
          <a:noFill/>
        </p:spPr>
        <p:txBody>
          <a:bodyPr wrap="square" rtlCol="0">
            <a:spAutoFit/>
          </a:bodyPr>
          <a:lstStyle/>
          <a:p>
            <a:pPr algn="ctr"/>
            <a:r>
              <a:rPr lang="fr-FR" sz="2800" u="sng" dirty="0">
                <a:latin typeface="Times New Roman" panose="02020603050405020304" pitchFamily="18" charset="0"/>
                <a:cs typeface="Times New Roman" panose="02020603050405020304" pitchFamily="18" charset="0"/>
              </a:rPr>
              <a:t>Cas d’utilisation de shap</a:t>
            </a:r>
          </a:p>
        </p:txBody>
      </p:sp>
      <p:pic>
        <p:nvPicPr>
          <p:cNvPr id="4" name="Image 3">
            <a:extLst>
              <a:ext uri="{FF2B5EF4-FFF2-40B4-BE49-F238E27FC236}">
                <a16:creationId xmlns:a16="http://schemas.microsoft.com/office/drawing/2014/main" id="{34BC73E5-449B-23F5-3C1D-EDF5967103C8}"/>
              </a:ext>
            </a:extLst>
          </p:cNvPr>
          <p:cNvPicPr>
            <a:picLocks noChangeAspect="1"/>
          </p:cNvPicPr>
          <p:nvPr/>
        </p:nvPicPr>
        <p:blipFill>
          <a:blip r:embed="rId2"/>
          <a:stretch>
            <a:fillRect/>
          </a:stretch>
        </p:blipFill>
        <p:spPr>
          <a:xfrm>
            <a:off x="0" y="1206630"/>
            <a:ext cx="7257633" cy="5651370"/>
          </a:xfrm>
          <a:prstGeom prst="rect">
            <a:avLst/>
          </a:prstGeom>
        </p:spPr>
      </p:pic>
      <p:pic>
        <p:nvPicPr>
          <p:cNvPr id="6" name="Image 5">
            <a:extLst>
              <a:ext uri="{FF2B5EF4-FFF2-40B4-BE49-F238E27FC236}">
                <a16:creationId xmlns:a16="http://schemas.microsoft.com/office/drawing/2014/main" id="{52AE8617-9778-213A-9665-C40A3AC73406}"/>
              </a:ext>
            </a:extLst>
          </p:cNvPr>
          <p:cNvPicPr>
            <a:picLocks noChangeAspect="1"/>
          </p:cNvPicPr>
          <p:nvPr/>
        </p:nvPicPr>
        <p:blipFill>
          <a:blip r:embed="rId3"/>
          <a:stretch>
            <a:fillRect/>
          </a:stretch>
        </p:blipFill>
        <p:spPr>
          <a:xfrm>
            <a:off x="7381188" y="1057802"/>
            <a:ext cx="4119513" cy="808705"/>
          </a:xfrm>
          <a:prstGeom prst="rect">
            <a:avLst/>
          </a:prstGeom>
        </p:spPr>
      </p:pic>
      <p:pic>
        <p:nvPicPr>
          <p:cNvPr id="8" name="Image 7">
            <a:extLst>
              <a:ext uri="{FF2B5EF4-FFF2-40B4-BE49-F238E27FC236}">
                <a16:creationId xmlns:a16="http://schemas.microsoft.com/office/drawing/2014/main" id="{3009CD0E-5EF3-31F5-C2DB-144D968300E5}"/>
              </a:ext>
            </a:extLst>
          </p:cNvPr>
          <p:cNvPicPr>
            <a:picLocks noChangeAspect="1"/>
          </p:cNvPicPr>
          <p:nvPr/>
        </p:nvPicPr>
        <p:blipFill>
          <a:blip r:embed="rId4"/>
          <a:stretch>
            <a:fillRect/>
          </a:stretch>
        </p:blipFill>
        <p:spPr>
          <a:xfrm>
            <a:off x="7296347" y="2011909"/>
            <a:ext cx="4204354" cy="2720347"/>
          </a:xfrm>
          <a:prstGeom prst="rect">
            <a:avLst/>
          </a:prstGeom>
        </p:spPr>
      </p:pic>
      <p:pic>
        <p:nvPicPr>
          <p:cNvPr id="10" name="Image 9">
            <a:extLst>
              <a:ext uri="{FF2B5EF4-FFF2-40B4-BE49-F238E27FC236}">
                <a16:creationId xmlns:a16="http://schemas.microsoft.com/office/drawing/2014/main" id="{AA38A42E-68A3-09AE-79A0-A8D19AEA9A1A}"/>
              </a:ext>
            </a:extLst>
          </p:cNvPr>
          <p:cNvPicPr>
            <a:picLocks noChangeAspect="1"/>
          </p:cNvPicPr>
          <p:nvPr/>
        </p:nvPicPr>
        <p:blipFill>
          <a:blip r:embed="rId5"/>
          <a:stretch>
            <a:fillRect/>
          </a:stretch>
        </p:blipFill>
        <p:spPr>
          <a:xfrm>
            <a:off x="7381188" y="4732256"/>
            <a:ext cx="3490157" cy="1753394"/>
          </a:xfrm>
          <a:prstGeom prst="rect">
            <a:avLst/>
          </a:prstGeom>
        </p:spPr>
      </p:pic>
    </p:spTree>
    <p:extLst>
      <p:ext uri="{BB962C8B-B14F-4D97-AF65-F5344CB8AC3E}">
        <p14:creationId xmlns:p14="http://schemas.microsoft.com/office/powerpoint/2010/main" val="30357170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D96285EA-5D5A-183E-AE16-B7CBF50A69D3}"/>
              </a:ext>
            </a:extLst>
          </p:cNvPr>
          <p:cNvSpPr txBox="1"/>
          <p:nvPr/>
        </p:nvSpPr>
        <p:spPr>
          <a:xfrm>
            <a:off x="4053526" y="75414"/>
            <a:ext cx="3836709" cy="1200329"/>
          </a:xfrm>
          <a:prstGeom prst="rect">
            <a:avLst/>
          </a:prstGeom>
          <a:noFill/>
        </p:spPr>
        <p:txBody>
          <a:bodyPr wrap="square" rtlCol="0">
            <a:spAutoFit/>
          </a:bodyPr>
          <a:lstStyle/>
          <a:p>
            <a:pPr algn="ctr"/>
            <a:r>
              <a:rPr lang="fr-FR" sz="2400" u="sng" dirty="0">
                <a:latin typeface="Times New Roman" panose="02020603050405020304" pitchFamily="18" charset="0"/>
                <a:cs typeface="Times New Roman" panose="02020603050405020304" pitchFamily="18" charset="0"/>
              </a:rPr>
              <a:t>Comparaison RandomForest avant et après Feature Engineering</a:t>
            </a:r>
          </a:p>
        </p:txBody>
      </p:sp>
      <p:sp>
        <p:nvSpPr>
          <p:cNvPr id="3" name="ZoneTexte 2">
            <a:extLst>
              <a:ext uri="{FF2B5EF4-FFF2-40B4-BE49-F238E27FC236}">
                <a16:creationId xmlns:a16="http://schemas.microsoft.com/office/drawing/2014/main" id="{530CD1E0-18CA-513A-7075-A5949ABFE43F}"/>
              </a:ext>
            </a:extLst>
          </p:cNvPr>
          <p:cNvSpPr txBox="1"/>
          <p:nvPr/>
        </p:nvSpPr>
        <p:spPr>
          <a:xfrm>
            <a:off x="179109" y="1649691"/>
            <a:ext cx="3242821" cy="369332"/>
          </a:xfrm>
          <a:prstGeom prst="rect">
            <a:avLst/>
          </a:prstGeom>
          <a:noFill/>
        </p:spPr>
        <p:txBody>
          <a:bodyPr wrap="square" rtlCol="0">
            <a:spAutoFit/>
          </a:bodyPr>
          <a:lstStyle/>
          <a:p>
            <a:r>
              <a:rPr lang="fr-FR" dirty="0">
                <a:solidFill>
                  <a:srgbClr val="00B050"/>
                </a:solidFill>
                <a:latin typeface="Times New Roman" panose="02020603050405020304" pitchFamily="18" charset="0"/>
                <a:cs typeface="Times New Roman" panose="02020603050405020304" pitchFamily="18" charset="0"/>
              </a:rPr>
              <a:t>Avant Feature Engineering</a:t>
            </a:r>
          </a:p>
        </p:txBody>
      </p:sp>
      <p:pic>
        <p:nvPicPr>
          <p:cNvPr id="5" name="Image 4">
            <a:extLst>
              <a:ext uri="{FF2B5EF4-FFF2-40B4-BE49-F238E27FC236}">
                <a16:creationId xmlns:a16="http://schemas.microsoft.com/office/drawing/2014/main" id="{1D2770CA-3108-D7E1-58EE-38BFEF4C298A}"/>
              </a:ext>
            </a:extLst>
          </p:cNvPr>
          <p:cNvPicPr>
            <a:picLocks noChangeAspect="1"/>
          </p:cNvPicPr>
          <p:nvPr/>
        </p:nvPicPr>
        <p:blipFill>
          <a:blip r:embed="rId2"/>
          <a:stretch>
            <a:fillRect/>
          </a:stretch>
        </p:blipFill>
        <p:spPr>
          <a:xfrm>
            <a:off x="0" y="2655309"/>
            <a:ext cx="4458322" cy="1486107"/>
          </a:xfrm>
          <a:prstGeom prst="rect">
            <a:avLst/>
          </a:prstGeom>
        </p:spPr>
      </p:pic>
      <p:sp>
        <p:nvSpPr>
          <p:cNvPr id="6" name="ZoneTexte 5">
            <a:extLst>
              <a:ext uri="{FF2B5EF4-FFF2-40B4-BE49-F238E27FC236}">
                <a16:creationId xmlns:a16="http://schemas.microsoft.com/office/drawing/2014/main" id="{B22FBC49-654E-59CD-6D3E-3C2127892CB7}"/>
              </a:ext>
            </a:extLst>
          </p:cNvPr>
          <p:cNvSpPr txBox="1"/>
          <p:nvPr/>
        </p:nvSpPr>
        <p:spPr>
          <a:xfrm>
            <a:off x="8371002" y="1649691"/>
            <a:ext cx="3431357" cy="400110"/>
          </a:xfrm>
          <a:prstGeom prst="rect">
            <a:avLst/>
          </a:prstGeom>
          <a:noFill/>
        </p:spPr>
        <p:txBody>
          <a:bodyPr wrap="square" rtlCol="0">
            <a:spAutoFit/>
          </a:bodyPr>
          <a:lstStyle/>
          <a:p>
            <a:r>
              <a:rPr lang="fr-FR" sz="2000" u="sng" dirty="0">
                <a:solidFill>
                  <a:srgbClr val="FF0000"/>
                </a:solidFill>
                <a:latin typeface="Times New Roman" panose="02020603050405020304" pitchFamily="18" charset="0"/>
                <a:cs typeface="Times New Roman" panose="02020603050405020304" pitchFamily="18" charset="0"/>
              </a:rPr>
              <a:t>Après Feature Engineering</a:t>
            </a:r>
          </a:p>
        </p:txBody>
      </p:sp>
      <p:pic>
        <p:nvPicPr>
          <p:cNvPr id="7" name="Image 6">
            <a:extLst>
              <a:ext uri="{FF2B5EF4-FFF2-40B4-BE49-F238E27FC236}">
                <a16:creationId xmlns:a16="http://schemas.microsoft.com/office/drawing/2014/main" id="{2BBD2D06-7436-B239-1AFF-FEC071114B1E}"/>
              </a:ext>
            </a:extLst>
          </p:cNvPr>
          <p:cNvPicPr>
            <a:picLocks noChangeAspect="1"/>
          </p:cNvPicPr>
          <p:nvPr/>
        </p:nvPicPr>
        <p:blipFill>
          <a:blip r:embed="rId3"/>
          <a:stretch>
            <a:fillRect/>
          </a:stretch>
        </p:blipFill>
        <p:spPr>
          <a:xfrm>
            <a:off x="8371002" y="2655310"/>
            <a:ext cx="3355942" cy="1294522"/>
          </a:xfrm>
          <a:prstGeom prst="rect">
            <a:avLst/>
          </a:prstGeom>
        </p:spPr>
      </p:pic>
      <p:sp>
        <p:nvSpPr>
          <p:cNvPr id="8" name="ZoneTexte 7">
            <a:extLst>
              <a:ext uri="{FF2B5EF4-FFF2-40B4-BE49-F238E27FC236}">
                <a16:creationId xmlns:a16="http://schemas.microsoft.com/office/drawing/2014/main" id="{0A32D559-B147-F833-E167-08AC5EAF7E94}"/>
              </a:ext>
            </a:extLst>
          </p:cNvPr>
          <p:cNvSpPr txBox="1"/>
          <p:nvPr/>
        </p:nvSpPr>
        <p:spPr>
          <a:xfrm>
            <a:off x="339365" y="4430598"/>
            <a:ext cx="11660957" cy="2246769"/>
          </a:xfrm>
          <a:prstGeom prst="rect">
            <a:avLst/>
          </a:prstGeom>
          <a:noFill/>
        </p:spPr>
        <p:txBody>
          <a:bodyPr wrap="square" rtlCol="0">
            <a:spAutoFit/>
          </a:bodyPr>
          <a:lstStyle/>
          <a:p>
            <a:pPr algn="ctr"/>
            <a:r>
              <a:rPr lang="fr-FR" sz="2800" dirty="0">
                <a:latin typeface="Times New Roman" panose="02020603050405020304" pitchFamily="18" charset="0"/>
                <a:cs typeface="Times New Roman" panose="02020603050405020304" pitchFamily="18" charset="0"/>
              </a:rPr>
              <a:t>Nous constatons que la performance du modèle après feature engineering est meilleure que celle avant</a:t>
            </a:r>
          </a:p>
          <a:p>
            <a:pPr algn="ctr"/>
            <a:r>
              <a:rPr lang="fr-FR" sz="2800" dirty="0">
                <a:latin typeface="Times New Roman" panose="02020603050405020304" pitchFamily="18" charset="0"/>
                <a:cs typeface="Times New Roman" panose="02020603050405020304" pitchFamily="18" charset="0"/>
              </a:rPr>
              <a:t>En somme la performance avec nos features ajouté ont eu un impact positif dans la performance </a:t>
            </a:r>
          </a:p>
          <a:p>
            <a:pPr algn="ctr"/>
            <a:endParaRPr lang="fr-FR"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884987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A8B8C056-589B-3213-8DD0-37DBAF4FAD55}"/>
              </a:ext>
            </a:extLst>
          </p:cNvPr>
          <p:cNvSpPr txBox="1"/>
          <p:nvPr/>
        </p:nvSpPr>
        <p:spPr>
          <a:xfrm>
            <a:off x="4138367" y="131975"/>
            <a:ext cx="3365369" cy="769441"/>
          </a:xfrm>
          <a:prstGeom prst="rect">
            <a:avLst/>
          </a:prstGeom>
          <a:noFill/>
        </p:spPr>
        <p:txBody>
          <a:bodyPr wrap="square" rtlCol="0">
            <a:spAutoFit/>
          </a:bodyPr>
          <a:lstStyle/>
          <a:p>
            <a:pPr algn="ctr"/>
            <a:r>
              <a:rPr lang="fr-FR" sz="4400" u="sng" dirty="0">
                <a:latin typeface="Times New Roman" panose="02020603050405020304" pitchFamily="18" charset="0"/>
                <a:cs typeface="Times New Roman" panose="02020603050405020304" pitchFamily="18" charset="0"/>
              </a:rPr>
              <a:t>7- Conclusion</a:t>
            </a:r>
          </a:p>
        </p:txBody>
      </p:sp>
      <p:sp>
        <p:nvSpPr>
          <p:cNvPr id="4" name="ZoneTexte 3">
            <a:extLst>
              <a:ext uri="{FF2B5EF4-FFF2-40B4-BE49-F238E27FC236}">
                <a16:creationId xmlns:a16="http://schemas.microsoft.com/office/drawing/2014/main" id="{04E6A53C-9016-5C98-2228-FC6A85460B43}"/>
              </a:ext>
            </a:extLst>
          </p:cNvPr>
          <p:cNvSpPr txBox="1"/>
          <p:nvPr/>
        </p:nvSpPr>
        <p:spPr>
          <a:xfrm>
            <a:off x="0" y="1225485"/>
            <a:ext cx="12192000" cy="6124754"/>
          </a:xfrm>
          <a:prstGeom prst="rect">
            <a:avLst/>
          </a:prstGeom>
          <a:noFill/>
        </p:spPr>
        <p:txBody>
          <a:bodyPr wrap="square" rtlCol="0">
            <a:spAutoFit/>
          </a:bodyPr>
          <a:lstStyle/>
          <a:p>
            <a:pPr marL="342900" indent="-342900">
              <a:buAutoNum type="arabicPeriod"/>
            </a:pPr>
            <a:r>
              <a:rPr lang="fr-FR" sz="2800" u="sng" dirty="0">
                <a:solidFill>
                  <a:srgbClr val="FF0000"/>
                </a:solidFill>
                <a:latin typeface="Times New Roman" panose="02020603050405020304" pitchFamily="18" charset="0"/>
                <a:cs typeface="Times New Roman" panose="02020603050405020304" pitchFamily="18" charset="0"/>
              </a:rPr>
              <a:t>Objectif : </a:t>
            </a:r>
            <a:r>
              <a:rPr lang="fr-FR" sz="2800" dirty="0"/>
              <a:t>L’objectif de ce projet était de comprendre et prédire l’attrition des employés, c’est-à-dire identifier les facteurs qui expliquent pourquoi certains employés quittent l’entreprise.</a:t>
            </a:r>
          </a:p>
          <a:p>
            <a:pPr marL="342900" indent="-342900">
              <a:buAutoNum type="arabicPeriod"/>
            </a:pPr>
            <a:r>
              <a:rPr lang="fr-FR" sz="2800" dirty="0"/>
              <a:t> </a:t>
            </a:r>
            <a:r>
              <a:rPr lang="fr-FR" sz="2800" u="sng" dirty="0">
                <a:solidFill>
                  <a:srgbClr val="FF0000"/>
                </a:solidFill>
                <a:latin typeface="Times New Roman" panose="02020603050405020304" pitchFamily="18" charset="0"/>
                <a:cs typeface="Times New Roman" panose="02020603050405020304" pitchFamily="18" charset="0"/>
              </a:rPr>
              <a:t>Préparation des données :  </a:t>
            </a:r>
            <a:r>
              <a:rPr lang="fr-FR" sz="2800" dirty="0"/>
              <a:t>Nous avons fusionné plusieurs sources (SIRH, évaluation, sondage), effectué des jointures fiables, nettoyé les données, encodé les variables qualitatives et éliminé les corrélations fortes. Cela nous a permis d’obtenir un dataset propre et exploitable.</a:t>
            </a:r>
          </a:p>
          <a:p>
            <a:pPr marL="342900" indent="-342900">
              <a:buAutoNum type="arabicPeriod"/>
            </a:pPr>
            <a:r>
              <a:rPr lang="fr-FR" sz="2800" dirty="0"/>
              <a:t> </a:t>
            </a:r>
            <a:r>
              <a:rPr lang="fr-FR" sz="2800" u="sng" dirty="0">
                <a:solidFill>
                  <a:srgbClr val="FF0000"/>
                </a:solidFill>
                <a:latin typeface="Times New Roman" panose="02020603050405020304" pitchFamily="18" charset="0"/>
                <a:cs typeface="Times New Roman" panose="02020603050405020304" pitchFamily="18" charset="0"/>
              </a:rPr>
              <a:t>Analyse exploratoire : </a:t>
            </a:r>
            <a:r>
              <a:rPr lang="fr-FR" sz="2800" dirty="0"/>
              <a:t>L’analyse a révélé un déséquilibre des classes ainsi que des relations importantes entre satisfaction, charge de travail et départ. L’attrition dépend à la fois de facteurs personnels et organisationnels.</a:t>
            </a:r>
          </a:p>
          <a:p>
            <a:pPr marL="342900" indent="-342900">
              <a:buAutoNum type="arabicPeriod"/>
            </a:pPr>
            <a:r>
              <a:rPr lang="fr-FR" sz="2800" u="sng" dirty="0">
                <a:solidFill>
                  <a:srgbClr val="FF0000"/>
                </a:solidFill>
                <a:latin typeface="Times New Roman" panose="02020603050405020304" pitchFamily="18" charset="0"/>
                <a:cs typeface="Times New Roman" panose="02020603050405020304" pitchFamily="18" charset="0"/>
              </a:rPr>
              <a:t>Modélisation : </a:t>
            </a:r>
            <a:r>
              <a:rPr lang="fr-FR" sz="2800" dirty="0"/>
              <a:t>Trois modèles ont été testés :- Dummy : Baseline, incapable de détecter les départs.- Régression Logistique : bon compromis entre performance et interprétabilité.- Random Forest : puissant mais sujet à l’</a:t>
            </a:r>
            <a:r>
              <a:rPr lang="fr-FR" sz="2800" dirty="0" err="1"/>
              <a:t>overfitting</a:t>
            </a:r>
            <a:r>
              <a:rPr lang="fr-FR" sz="2800" dirty="0"/>
              <a:t>.</a:t>
            </a:r>
          </a:p>
          <a:p>
            <a:pPr marL="342900" indent="-342900">
              <a:buAutoNum type="arabicPeriod"/>
            </a:pPr>
            <a:endParaRPr lang="fr-FR" sz="2800" dirty="0"/>
          </a:p>
        </p:txBody>
      </p:sp>
    </p:spTree>
    <p:extLst>
      <p:ext uri="{BB962C8B-B14F-4D97-AF65-F5344CB8AC3E}">
        <p14:creationId xmlns:p14="http://schemas.microsoft.com/office/powerpoint/2010/main" val="16358237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9CD94F9A-4256-0B08-EB03-339587A93C50}"/>
              </a:ext>
            </a:extLst>
          </p:cNvPr>
          <p:cNvSpPr txBox="1"/>
          <p:nvPr/>
        </p:nvSpPr>
        <p:spPr>
          <a:xfrm>
            <a:off x="226243" y="782425"/>
            <a:ext cx="11510128" cy="6555641"/>
          </a:xfrm>
          <a:prstGeom prst="rect">
            <a:avLst/>
          </a:prstGeom>
          <a:noFill/>
        </p:spPr>
        <p:txBody>
          <a:bodyPr wrap="square" rtlCol="0">
            <a:spAutoFit/>
          </a:bodyPr>
          <a:lstStyle/>
          <a:p>
            <a:pPr marL="342900" indent="-342900">
              <a:buAutoNum type="arabicPeriod"/>
            </a:pPr>
            <a:r>
              <a:rPr lang="fr-FR" sz="2800" dirty="0"/>
              <a:t> </a:t>
            </a:r>
            <a:r>
              <a:rPr lang="fr-FR" sz="2800" u="sng" dirty="0">
                <a:solidFill>
                  <a:srgbClr val="FF0000"/>
                </a:solidFill>
                <a:latin typeface="Times New Roman" panose="02020603050405020304" pitchFamily="18" charset="0"/>
                <a:cs typeface="Times New Roman" panose="02020603050405020304" pitchFamily="18" charset="0"/>
              </a:rPr>
              <a:t>Choix du modèle</a:t>
            </a:r>
            <a:r>
              <a:rPr lang="fr-FR" sz="2800" dirty="0">
                <a:solidFill>
                  <a:srgbClr val="FF0000"/>
                </a:solidFill>
              </a:rPr>
              <a:t>: </a:t>
            </a:r>
            <a:r>
              <a:rPr lang="fr-FR" sz="2800" dirty="0"/>
              <a:t>La régression logistique a été retenue pour sa capacité de généralisation et son interprétabilité.</a:t>
            </a:r>
          </a:p>
          <a:p>
            <a:pPr marL="342900" indent="-342900">
              <a:buAutoNum type="arabicPeriod"/>
            </a:pPr>
            <a:r>
              <a:rPr lang="fr-FR" sz="2800" dirty="0"/>
              <a:t> </a:t>
            </a:r>
            <a:r>
              <a:rPr lang="fr-FR" sz="2800" u="sng" dirty="0">
                <a:solidFill>
                  <a:srgbClr val="FF0000"/>
                </a:solidFill>
                <a:latin typeface="Times New Roman" panose="02020603050405020304" pitchFamily="18" charset="0"/>
                <a:cs typeface="Times New Roman" panose="02020603050405020304" pitchFamily="18" charset="0"/>
              </a:rPr>
              <a:t>Évaluation </a:t>
            </a:r>
            <a:r>
              <a:rPr lang="fr-FR" sz="2800" dirty="0">
                <a:solidFill>
                  <a:srgbClr val="FF0000"/>
                </a:solidFill>
              </a:rPr>
              <a:t>:</a:t>
            </a:r>
            <a:r>
              <a:rPr lang="fr-FR" sz="2800" dirty="0"/>
              <a:t> Les métriques utilisées incluent la matrice de confusion, le recall, la précision et le F1-score. La validation croisée a confirmé la stabilité du modèle.</a:t>
            </a:r>
          </a:p>
          <a:p>
            <a:pPr marL="342900" indent="-342900">
              <a:buAutoNum type="arabicPeriod"/>
            </a:pPr>
            <a:r>
              <a:rPr lang="fr-FR" sz="2800" dirty="0"/>
              <a:t> </a:t>
            </a:r>
            <a:r>
              <a:rPr lang="fr-FR" sz="2800" u="sng" dirty="0">
                <a:solidFill>
                  <a:srgbClr val="FF0000"/>
                </a:solidFill>
                <a:latin typeface="Times New Roman" panose="02020603050405020304" pitchFamily="18" charset="0"/>
                <a:cs typeface="Times New Roman" panose="02020603050405020304" pitchFamily="18" charset="0"/>
              </a:rPr>
              <a:t>Feature importance (globale): </a:t>
            </a:r>
            <a:r>
              <a:rPr lang="fr-FR" sz="2800" dirty="0"/>
              <a:t>Les variables clés sont :- charge de travail- heures supplémentaires- revenu- âge- nbre_participation_ppee Ces facteurs expliquent la majorité des départs.</a:t>
            </a:r>
          </a:p>
          <a:p>
            <a:pPr marL="342900" indent="-342900">
              <a:buAutoNum type="arabicPeriod"/>
            </a:pPr>
            <a:r>
              <a:rPr lang="fr-FR" sz="2800" dirty="0"/>
              <a:t> </a:t>
            </a:r>
            <a:r>
              <a:rPr lang="fr-FR" sz="2800" u="sng" dirty="0">
                <a:solidFill>
                  <a:srgbClr val="FF0000"/>
                </a:solidFill>
                <a:latin typeface="Times New Roman" panose="02020603050405020304" pitchFamily="18" charset="0"/>
                <a:cs typeface="Times New Roman" panose="02020603050405020304" pitchFamily="18" charset="0"/>
              </a:rPr>
              <a:t>Explicabilité locale (SHAP) : </a:t>
            </a:r>
            <a:r>
              <a:rPr lang="fr-FR" sz="2800" dirty="0"/>
              <a:t>L’analyse SHAP permet d’expliquer les décisions du modèle pour chaque employé. Par exemple, un départ peut être causé par une surcharge de travail, un faible salaire et une faible satisfaction.</a:t>
            </a:r>
          </a:p>
          <a:p>
            <a:pPr marL="342900" indent="-342900">
              <a:buAutoNum type="arabicPeriod"/>
            </a:pPr>
            <a:r>
              <a:rPr lang="fr-FR" sz="2800" u="sng" dirty="0">
                <a:solidFill>
                  <a:srgbClr val="FF0000"/>
                </a:solidFill>
                <a:latin typeface="Times New Roman" panose="02020603050405020304" pitchFamily="18" charset="0"/>
                <a:cs typeface="Times New Roman" panose="02020603050405020304" pitchFamily="18" charset="0"/>
              </a:rPr>
              <a:t>Apport métier : </a:t>
            </a:r>
            <a:r>
              <a:rPr lang="fr-FR" sz="2800" dirty="0"/>
              <a:t>Le modèle permet d’anticiper les départs, identifier les profils à risque et améliorer la gestion des ressources humaines.</a:t>
            </a:r>
          </a:p>
          <a:p>
            <a:endParaRPr lang="fr-FR" sz="2800" dirty="0"/>
          </a:p>
        </p:txBody>
      </p:sp>
    </p:spTree>
    <p:extLst>
      <p:ext uri="{BB962C8B-B14F-4D97-AF65-F5344CB8AC3E}">
        <p14:creationId xmlns:p14="http://schemas.microsoft.com/office/powerpoint/2010/main" val="35250075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A8B43AEA-8B37-5769-934C-70DC0307E6B2}"/>
              </a:ext>
            </a:extLst>
          </p:cNvPr>
          <p:cNvSpPr txBox="1"/>
          <p:nvPr/>
        </p:nvSpPr>
        <p:spPr>
          <a:xfrm>
            <a:off x="3242821" y="131975"/>
            <a:ext cx="5712643" cy="954107"/>
          </a:xfrm>
          <a:prstGeom prst="rect">
            <a:avLst/>
          </a:prstGeom>
          <a:noFill/>
        </p:spPr>
        <p:txBody>
          <a:bodyPr wrap="square" rtlCol="0">
            <a:spAutoFit/>
          </a:bodyPr>
          <a:lstStyle/>
          <a:p>
            <a:pPr algn="ctr"/>
            <a:r>
              <a:rPr lang="fr-FR" sz="2800" u="sng" dirty="0">
                <a:solidFill>
                  <a:srgbClr val="FF0000"/>
                </a:solidFill>
                <a:latin typeface="Times New Roman" panose="02020603050405020304" pitchFamily="18" charset="0"/>
                <a:cs typeface="Times New Roman" panose="02020603050405020304" pitchFamily="18" charset="0"/>
              </a:rPr>
              <a:t>APPORT SUITE À LA RÉALISATION DU PROJET</a:t>
            </a:r>
          </a:p>
        </p:txBody>
      </p:sp>
      <p:sp>
        <p:nvSpPr>
          <p:cNvPr id="3" name="ZoneTexte 2">
            <a:extLst>
              <a:ext uri="{FF2B5EF4-FFF2-40B4-BE49-F238E27FC236}">
                <a16:creationId xmlns:a16="http://schemas.microsoft.com/office/drawing/2014/main" id="{CD7733FE-A4C5-5D3E-E13D-EE97568B4C25}"/>
              </a:ext>
            </a:extLst>
          </p:cNvPr>
          <p:cNvSpPr txBox="1"/>
          <p:nvPr/>
        </p:nvSpPr>
        <p:spPr>
          <a:xfrm>
            <a:off x="546755" y="1480008"/>
            <a:ext cx="10529740" cy="2862322"/>
          </a:xfrm>
          <a:prstGeom prst="rect">
            <a:avLst/>
          </a:prstGeom>
          <a:noFill/>
        </p:spPr>
        <p:txBody>
          <a:bodyPr wrap="square" rtlCol="0">
            <a:spAutoFit/>
          </a:bodyPr>
          <a:lstStyle/>
          <a:p>
            <a:r>
              <a:rPr lang="fr-FR" sz="3600" dirty="0"/>
              <a:t>Ce projet a permis de construire un modèle prédictif fiable et interprétable. La régression logistique apparaît comme le meilleur choix. L’utilisation de SHAP permet d’expliquer les décisions du modèle et d’apporter une valeur concrète aux équipes RH.</a:t>
            </a:r>
          </a:p>
        </p:txBody>
      </p:sp>
      <p:sp>
        <p:nvSpPr>
          <p:cNvPr id="4" name="ZoneTexte 3">
            <a:extLst>
              <a:ext uri="{FF2B5EF4-FFF2-40B4-BE49-F238E27FC236}">
                <a16:creationId xmlns:a16="http://schemas.microsoft.com/office/drawing/2014/main" id="{F9DFBC74-3AF5-EE07-326D-2CBF366EDE95}"/>
              </a:ext>
            </a:extLst>
          </p:cNvPr>
          <p:cNvSpPr txBox="1"/>
          <p:nvPr/>
        </p:nvSpPr>
        <p:spPr>
          <a:xfrm>
            <a:off x="7777113" y="5015060"/>
            <a:ext cx="4100660" cy="1200329"/>
          </a:xfrm>
          <a:prstGeom prst="rect">
            <a:avLst/>
          </a:prstGeom>
          <a:noFill/>
        </p:spPr>
        <p:txBody>
          <a:bodyPr wrap="square" rtlCol="0">
            <a:spAutoFit/>
          </a:bodyPr>
          <a:lstStyle/>
          <a:p>
            <a:r>
              <a:rPr lang="fr-FR" sz="2400" dirty="0"/>
              <a:t>MAMADOU OURY BALDE</a:t>
            </a:r>
          </a:p>
          <a:p>
            <a:r>
              <a:rPr lang="fr-FR" sz="2400" dirty="0"/>
              <a:t>DATA SCIENTIST MACHINE LEARNING</a:t>
            </a:r>
          </a:p>
        </p:txBody>
      </p:sp>
    </p:spTree>
    <p:extLst>
      <p:ext uri="{BB962C8B-B14F-4D97-AF65-F5344CB8AC3E}">
        <p14:creationId xmlns:p14="http://schemas.microsoft.com/office/powerpoint/2010/main" val="56013444"/>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2505</TotalTime>
  <Words>918</Words>
  <Application>Microsoft Office PowerPoint</Application>
  <PresentationFormat>Grand écran</PresentationFormat>
  <Paragraphs>87</Paragraphs>
  <Slides>22</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22</vt:i4>
      </vt:variant>
    </vt:vector>
  </HeadingPairs>
  <TitlesOfParts>
    <vt:vector size="27" baseType="lpstr">
      <vt:lpstr>Arial</vt:lpstr>
      <vt:lpstr>Calibri</vt:lpstr>
      <vt:lpstr>Calibri Light</vt:lpstr>
      <vt:lpstr>Times New Roman</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Mamadou Oury Baldé</dc:creator>
  <cp:lastModifiedBy>Mamadou Oury Baldé</cp:lastModifiedBy>
  <cp:revision>2</cp:revision>
  <dcterms:created xsi:type="dcterms:W3CDTF">2026-04-05T21:47:11Z</dcterms:created>
  <dcterms:modified xsi:type="dcterms:W3CDTF">2026-04-07T15:32:24Z</dcterms:modified>
</cp:coreProperties>
</file>